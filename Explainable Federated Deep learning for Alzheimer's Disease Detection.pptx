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Lst>
  <p:sldSz cx="27432000" cy="43891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25" d="100"/>
          <a:sy n="25" d="100"/>
        </p:scale>
        <p:origin x="1044" y="-1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7183123"/>
            <a:ext cx="23317200" cy="15280640"/>
          </a:xfrm>
        </p:spPr>
        <p:txBody>
          <a:bodyPr anchor="b"/>
          <a:lstStyle>
            <a:lvl1pPr algn="ctr">
              <a:defRPr sz="18000"/>
            </a:lvl1pPr>
          </a:lstStyle>
          <a:p>
            <a:r>
              <a:rPr lang="en-US"/>
              <a:t>Click to edit Master title style</a:t>
            </a:r>
            <a:endParaRPr lang="en-US" dirty="0"/>
          </a:p>
        </p:txBody>
      </p:sp>
      <p:sp>
        <p:nvSpPr>
          <p:cNvPr id="3" name="Subtitle 2"/>
          <p:cNvSpPr>
            <a:spLocks noGrp="1"/>
          </p:cNvSpPr>
          <p:nvPr>
            <p:ph type="subTitle" idx="1"/>
          </p:nvPr>
        </p:nvSpPr>
        <p:spPr>
          <a:xfrm>
            <a:off x="3429000" y="23053043"/>
            <a:ext cx="20574000" cy="10596877"/>
          </a:xfrm>
        </p:spPr>
        <p:txBody>
          <a:bodyPr/>
          <a:lstStyle>
            <a:lvl1pPr marL="0" indent="0" algn="ctr">
              <a:buNone/>
              <a:defRPr sz="7200"/>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6E62287-EE82-4CAC-8118-A3C92F32CD32}"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2867466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E62287-EE82-4CAC-8118-A3C92F32CD32}"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2807115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871664" y="10942333"/>
            <a:ext cx="23660100" cy="18257517"/>
          </a:xfrm>
        </p:spPr>
        <p:txBody>
          <a:bodyPr anchor="b"/>
          <a:lstStyle>
            <a:lvl1pPr>
              <a:defRPr sz="18000"/>
            </a:lvl1pPr>
          </a:lstStyle>
          <a:p>
            <a:r>
              <a:rPr lang="en-US"/>
              <a:t>Click to edit Master title style</a:t>
            </a:r>
            <a:endParaRPr lang="en-US" dirty="0"/>
          </a:p>
        </p:txBody>
      </p:sp>
      <p:sp>
        <p:nvSpPr>
          <p:cNvPr id="3" name="Text Placeholder 2"/>
          <p:cNvSpPr>
            <a:spLocks noGrp="1"/>
          </p:cNvSpPr>
          <p:nvPr>
            <p:ph type="body" idx="1"/>
          </p:nvPr>
        </p:nvSpPr>
        <p:spPr>
          <a:xfrm>
            <a:off x="1871664" y="29372573"/>
            <a:ext cx="23660100" cy="9601197"/>
          </a:xfrm>
        </p:spPr>
        <p:txBody>
          <a:bodyPr/>
          <a:lstStyle>
            <a:lvl1pPr marL="0" indent="0">
              <a:buNone/>
              <a:defRPr sz="7200">
                <a:solidFill>
                  <a:schemeClr val="tx1">
                    <a:tint val="82000"/>
                  </a:schemeClr>
                </a:solidFill>
              </a:defRPr>
            </a:lvl1pPr>
            <a:lvl2pPr marL="1371600" indent="0">
              <a:buNone/>
              <a:defRPr sz="6000">
                <a:solidFill>
                  <a:schemeClr val="tx1">
                    <a:tint val="82000"/>
                  </a:schemeClr>
                </a:solidFill>
              </a:defRPr>
            </a:lvl2pPr>
            <a:lvl3pPr marL="2743200" indent="0">
              <a:buNone/>
              <a:defRPr sz="5400">
                <a:solidFill>
                  <a:schemeClr val="tx1">
                    <a:tint val="82000"/>
                  </a:schemeClr>
                </a:solidFill>
              </a:defRPr>
            </a:lvl3pPr>
            <a:lvl4pPr marL="4114800" indent="0">
              <a:buNone/>
              <a:defRPr sz="4800">
                <a:solidFill>
                  <a:schemeClr val="tx1">
                    <a:tint val="82000"/>
                  </a:schemeClr>
                </a:solidFill>
              </a:defRPr>
            </a:lvl4pPr>
            <a:lvl5pPr marL="5486400" indent="0">
              <a:buNone/>
              <a:defRPr sz="4800">
                <a:solidFill>
                  <a:schemeClr val="tx1">
                    <a:tint val="82000"/>
                  </a:schemeClr>
                </a:solidFill>
              </a:defRPr>
            </a:lvl5pPr>
            <a:lvl6pPr marL="6858000" indent="0">
              <a:buNone/>
              <a:defRPr sz="4800">
                <a:solidFill>
                  <a:schemeClr val="tx1">
                    <a:tint val="82000"/>
                  </a:schemeClr>
                </a:solidFill>
              </a:defRPr>
            </a:lvl6pPr>
            <a:lvl7pPr marL="8229600" indent="0">
              <a:buNone/>
              <a:defRPr sz="4800">
                <a:solidFill>
                  <a:schemeClr val="tx1">
                    <a:tint val="82000"/>
                  </a:schemeClr>
                </a:solidFill>
              </a:defRPr>
            </a:lvl7pPr>
            <a:lvl8pPr marL="9601200" indent="0">
              <a:buNone/>
              <a:defRPr sz="4800">
                <a:solidFill>
                  <a:schemeClr val="tx1">
                    <a:tint val="82000"/>
                  </a:schemeClr>
                </a:solidFill>
              </a:defRPr>
            </a:lvl8pPr>
            <a:lvl9pPr marL="10972800" indent="0">
              <a:buNone/>
              <a:defRPr sz="4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E62287-EE82-4CAC-8118-A3C92F32CD32}"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124129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885950" y="11684000"/>
            <a:ext cx="1165860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3887450" y="11684000"/>
            <a:ext cx="1165860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E62287-EE82-4CAC-8118-A3C92F32CD32}"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886500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889523" y="2336810"/>
            <a:ext cx="23660100"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889526" y="10759443"/>
            <a:ext cx="11605020" cy="5273037"/>
          </a:xfr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4" name="Content Placeholder 3"/>
          <p:cNvSpPr>
            <a:spLocks noGrp="1"/>
          </p:cNvSpPr>
          <p:nvPr>
            <p:ph sz="half" idx="2"/>
          </p:nvPr>
        </p:nvSpPr>
        <p:spPr>
          <a:xfrm>
            <a:off x="1889526" y="16032480"/>
            <a:ext cx="11605020"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3887452" y="10759443"/>
            <a:ext cx="11662173" cy="5273037"/>
          </a:xfr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6" name="Content Placeholder 5"/>
          <p:cNvSpPr>
            <a:spLocks noGrp="1"/>
          </p:cNvSpPr>
          <p:nvPr>
            <p:ph sz="quarter" idx="4"/>
          </p:nvPr>
        </p:nvSpPr>
        <p:spPr>
          <a:xfrm>
            <a:off x="13887452" y="16032480"/>
            <a:ext cx="11662173"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E62287-EE82-4CAC-8118-A3C92F32CD32}"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3223438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E62287-EE82-4CAC-8118-A3C92F32CD32}"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910995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E62287-EE82-4CAC-8118-A3C92F32CD32}"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2667116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89523" y="2926080"/>
            <a:ext cx="8847534" cy="10241280"/>
          </a:xfrm>
        </p:spPr>
        <p:txBody>
          <a:bodyPr anchor="b"/>
          <a:lstStyle>
            <a:lvl1pPr>
              <a:defRPr sz="9600"/>
            </a:lvl1pPr>
          </a:lstStyle>
          <a:p>
            <a:r>
              <a:rPr lang="en-US"/>
              <a:t>Click to edit Master title style</a:t>
            </a:r>
            <a:endParaRPr lang="en-US" dirty="0"/>
          </a:p>
        </p:txBody>
      </p:sp>
      <p:sp>
        <p:nvSpPr>
          <p:cNvPr id="3" name="Content Placeholder 2"/>
          <p:cNvSpPr>
            <a:spLocks noGrp="1"/>
          </p:cNvSpPr>
          <p:nvPr>
            <p:ph idx="1"/>
          </p:nvPr>
        </p:nvSpPr>
        <p:spPr>
          <a:xfrm>
            <a:off x="11662173" y="6319530"/>
            <a:ext cx="13887450" cy="31191200"/>
          </a:xfrm>
        </p:spPr>
        <p:txBody>
          <a:bodyPr/>
          <a:lstStyle>
            <a:lvl1pPr>
              <a:defRPr sz="9600"/>
            </a:lvl1pPr>
            <a:lvl2pPr>
              <a:defRPr sz="8400"/>
            </a:lvl2pPr>
            <a:lvl3pPr>
              <a:defRPr sz="7200"/>
            </a:lvl3pPr>
            <a:lvl4pPr>
              <a:defRPr sz="6000"/>
            </a:lvl4pPr>
            <a:lvl5pPr>
              <a:defRPr sz="6000"/>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889523" y="13167360"/>
            <a:ext cx="8847534" cy="24394163"/>
          </a:xfr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p:txBody>
          <a:bodyPr/>
          <a:lstStyle/>
          <a:p>
            <a:fld id="{36E62287-EE82-4CAC-8118-A3C92F32CD32}"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389112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89523" y="2926080"/>
            <a:ext cx="8847534" cy="10241280"/>
          </a:xfrm>
        </p:spPr>
        <p:txBody>
          <a:bodyPr anchor="b"/>
          <a:lstStyle>
            <a:lvl1pPr>
              <a:defRPr sz="9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62173" y="6319530"/>
            <a:ext cx="13887450" cy="31191200"/>
          </a:xfrm>
        </p:spPr>
        <p:txBody>
          <a:bodyPr anchor="t"/>
          <a:lstStyle>
            <a:lvl1pPr marL="0" indent="0">
              <a:buNone/>
              <a:defRPr sz="9600"/>
            </a:lvl1pPr>
            <a:lvl2pPr marL="1371600" indent="0">
              <a:buNone/>
              <a:defRPr sz="8400"/>
            </a:lvl2pPr>
            <a:lvl3pPr marL="2743200" indent="0">
              <a:buNone/>
              <a:defRPr sz="7200"/>
            </a:lvl3pPr>
            <a:lvl4pPr marL="4114800" indent="0">
              <a:buNone/>
              <a:defRPr sz="6000"/>
            </a:lvl4pPr>
            <a:lvl5pPr marL="5486400" indent="0">
              <a:buNone/>
              <a:defRPr sz="6000"/>
            </a:lvl5pPr>
            <a:lvl6pPr marL="6858000" indent="0">
              <a:buNone/>
              <a:defRPr sz="6000"/>
            </a:lvl6pPr>
            <a:lvl7pPr marL="8229600" indent="0">
              <a:buNone/>
              <a:defRPr sz="6000"/>
            </a:lvl7pPr>
            <a:lvl8pPr marL="9601200" indent="0">
              <a:buNone/>
              <a:defRPr sz="6000"/>
            </a:lvl8pPr>
            <a:lvl9pPr marL="10972800" indent="0">
              <a:buNone/>
              <a:defRPr sz="6000"/>
            </a:lvl9pPr>
          </a:lstStyle>
          <a:p>
            <a:r>
              <a:rPr lang="en-US"/>
              <a:t>Click icon to add picture</a:t>
            </a:r>
            <a:endParaRPr lang="en-US" dirty="0"/>
          </a:p>
        </p:txBody>
      </p:sp>
      <p:sp>
        <p:nvSpPr>
          <p:cNvPr id="4" name="Text Placeholder 3"/>
          <p:cNvSpPr>
            <a:spLocks noGrp="1"/>
          </p:cNvSpPr>
          <p:nvPr>
            <p:ph type="body" sz="half" idx="2"/>
          </p:nvPr>
        </p:nvSpPr>
        <p:spPr>
          <a:xfrm>
            <a:off x="1889523" y="13167360"/>
            <a:ext cx="8847534" cy="24394163"/>
          </a:xfr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p:txBody>
          <a:bodyPr/>
          <a:lstStyle/>
          <a:p>
            <a:fld id="{36E62287-EE82-4CAC-8118-A3C92F32CD32}"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378056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E62287-EE82-4CAC-8118-A3C92F32CD32}"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604535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9631027" y="2336800"/>
            <a:ext cx="5915025"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885952" y="2336800"/>
            <a:ext cx="17402175"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E62287-EE82-4CAC-8118-A3C92F32CD32}"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32180298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7183123"/>
            <a:ext cx="23317200" cy="15280640"/>
          </a:xfrm>
        </p:spPr>
        <p:txBody>
          <a:bodyPr anchor="b"/>
          <a:lstStyle>
            <a:lvl1pPr algn="ctr">
              <a:defRPr sz="17999"/>
            </a:lvl1pPr>
          </a:lstStyle>
          <a:p>
            <a:r>
              <a:rPr lang="en-US"/>
              <a:t>Click to edit Master title style</a:t>
            </a:r>
            <a:endParaRPr lang="en-US" dirty="0"/>
          </a:p>
        </p:txBody>
      </p:sp>
      <p:sp>
        <p:nvSpPr>
          <p:cNvPr id="3" name="Subtitle 2"/>
          <p:cNvSpPr>
            <a:spLocks noGrp="1"/>
          </p:cNvSpPr>
          <p:nvPr>
            <p:ph type="subTitle" idx="1"/>
          </p:nvPr>
        </p:nvSpPr>
        <p:spPr>
          <a:xfrm>
            <a:off x="3429000" y="23053046"/>
            <a:ext cx="20574000" cy="10596877"/>
          </a:xfrm>
        </p:spPr>
        <p:txBody>
          <a:bodyPr/>
          <a:lstStyle>
            <a:lvl1pPr marL="0" indent="0" algn="ctr">
              <a:buNone/>
              <a:defRPr sz="7200"/>
            </a:lvl1pPr>
            <a:lvl2pPr marL="1371545" indent="0" algn="ctr">
              <a:buNone/>
              <a:defRPr sz="6000"/>
            </a:lvl2pPr>
            <a:lvl3pPr marL="2743090" indent="0" algn="ctr">
              <a:buNone/>
              <a:defRPr sz="5400"/>
            </a:lvl3pPr>
            <a:lvl4pPr marL="4114635" indent="0" algn="ctr">
              <a:buNone/>
              <a:defRPr sz="4800"/>
            </a:lvl4pPr>
            <a:lvl5pPr marL="5486181" indent="0" algn="ctr">
              <a:buNone/>
              <a:defRPr sz="4800"/>
            </a:lvl5pPr>
            <a:lvl6pPr marL="6857726" indent="0" algn="ctr">
              <a:buNone/>
              <a:defRPr sz="4800"/>
            </a:lvl6pPr>
            <a:lvl7pPr marL="8229271" indent="0" algn="ctr">
              <a:buNone/>
              <a:defRPr sz="4800"/>
            </a:lvl7pPr>
            <a:lvl8pPr marL="9600816" indent="0" algn="ctr">
              <a:buNone/>
              <a:defRPr sz="4800"/>
            </a:lvl8pPr>
            <a:lvl9pPr marL="10972361" indent="0" algn="ctr">
              <a:buNone/>
              <a:defRPr sz="4800"/>
            </a:lvl9pPr>
          </a:lstStyle>
          <a:p>
            <a:r>
              <a:rPr lang="en-US" dirty="0"/>
              <a:t>Click to edit Master subtitle style</a:t>
            </a:r>
          </a:p>
        </p:txBody>
      </p:sp>
      <p:sp>
        <p:nvSpPr>
          <p:cNvPr id="4" name="Date Placeholder 3"/>
          <p:cNvSpPr>
            <a:spLocks noGrp="1"/>
          </p:cNvSpPr>
          <p:nvPr>
            <p:ph type="dt" sz="half" idx="10"/>
          </p:nvPr>
        </p:nvSpPr>
        <p:spPr/>
        <p:txBody>
          <a:bodyPr/>
          <a:lstStyle/>
          <a:p>
            <a:fld id="{36E62287-EE82-4CAC-8118-A3C92F32CD32}"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
        <p:nvSpPr>
          <p:cNvPr id="10" name="Picture Placeholder 9">
            <a:extLst>
              <a:ext uri="{FF2B5EF4-FFF2-40B4-BE49-F238E27FC236}">
                <a16:creationId xmlns:a16="http://schemas.microsoft.com/office/drawing/2014/main" id="{E8BB8BF0-1B62-88D2-2AA9-9DD641B32A05}"/>
              </a:ext>
            </a:extLst>
          </p:cNvPr>
          <p:cNvSpPr>
            <a:spLocks noGrp="1"/>
          </p:cNvSpPr>
          <p:nvPr>
            <p:ph type="pic" sz="quarter" idx="13"/>
          </p:nvPr>
        </p:nvSpPr>
        <p:spPr>
          <a:xfrm>
            <a:off x="2641336" y="20495188"/>
            <a:ext cx="3657864" cy="4526437"/>
          </a:xfrm>
        </p:spPr>
        <p:txBody>
          <a:bodyPr/>
          <a:lstStyle/>
          <a:p>
            <a:endParaRPr lang="en-US" dirty="0"/>
          </a:p>
        </p:txBody>
      </p:sp>
    </p:spTree>
    <p:extLst>
      <p:ext uri="{BB962C8B-B14F-4D97-AF65-F5344CB8AC3E}">
        <p14:creationId xmlns:p14="http://schemas.microsoft.com/office/powerpoint/2010/main" val="1446868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85950" y="2336810"/>
            <a:ext cx="23660100"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885950" y="11684000"/>
            <a:ext cx="23660100"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885950" y="40680650"/>
            <a:ext cx="6172200" cy="2336800"/>
          </a:xfrm>
          <a:prstGeom prst="rect">
            <a:avLst/>
          </a:prstGeom>
        </p:spPr>
        <p:txBody>
          <a:bodyPr vert="horz" lIns="91440" tIns="45720" rIns="91440" bIns="45720" rtlCol="0" anchor="ctr"/>
          <a:lstStyle>
            <a:lvl1pPr algn="l">
              <a:defRPr sz="3600">
                <a:solidFill>
                  <a:schemeClr val="tx1">
                    <a:tint val="82000"/>
                  </a:schemeClr>
                </a:solidFill>
              </a:defRPr>
            </a:lvl1pPr>
          </a:lstStyle>
          <a:p>
            <a:fld id="{36E62287-EE82-4CAC-8118-A3C92F32CD32}" type="datetimeFigureOut">
              <a:rPr lang="en-US" smtClean="0"/>
              <a:t>9/17/2026</a:t>
            </a:fld>
            <a:endParaRPr lang="en-US"/>
          </a:p>
        </p:txBody>
      </p:sp>
      <p:sp>
        <p:nvSpPr>
          <p:cNvPr id="5" name="Footer Placeholder 4"/>
          <p:cNvSpPr>
            <a:spLocks noGrp="1"/>
          </p:cNvSpPr>
          <p:nvPr>
            <p:ph type="ftr" sz="quarter" idx="3"/>
          </p:nvPr>
        </p:nvSpPr>
        <p:spPr>
          <a:xfrm>
            <a:off x="9086850" y="40680650"/>
            <a:ext cx="9258300" cy="2336800"/>
          </a:xfrm>
          <a:prstGeom prst="rect">
            <a:avLst/>
          </a:prstGeom>
        </p:spPr>
        <p:txBody>
          <a:bodyPr vert="horz" lIns="91440" tIns="45720" rIns="91440" bIns="45720" rtlCol="0" anchor="ctr"/>
          <a:lstStyle>
            <a:lvl1pPr algn="ctr">
              <a:defRPr sz="36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9373850" y="40680650"/>
            <a:ext cx="6172200" cy="2336800"/>
          </a:xfrm>
          <a:prstGeom prst="rect">
            <a:avLst/>
          </a:prstGeom>
        </p:spPr>
        <p:txBody>
          <a:bodyPr vert="horz" lIns="91440" tIns="45720" rIns="91440" bIns="45720" rtlCol="0" anchor="ctr"/>
          <a:lstStyle>
            <a:lvl1pPr algn="r">
              <a:defRPr sz="3600">
                <a:solidFill>
                  <a:schemeClr val="tx1">
                    <a:tint val="82000"/>
                  </a:schemeClr>
                </a:solidFill>
              </a:defRPr>
            </a:lvl1pPr>
          </a:lstStyle>
          <a:p>
            <a:fld id="{958B3A4A-BAB8-48FE-8D64-764B793361B2}" type="slidenum">
              <a:rPr lang="en-US" smtClean="0"/>
              <a:t>‹#›</a:t>
            </a:fld>
            <a:endParaRPr lang="en-US"/>
          </a:p>
        </p:txBody>
      </p:sp>
    </p:spTree>
    <p:extLst>
      <p:ext uri="{BB962C8B-B14F-4D97-AF65-F5344CB8AC3E}">
        <p14:creationId xmlns:p14="http://schemas.microsoft.com/office/powerpoint/2010/main" val="125478762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2743200" rtl="0" eaLnBrk="1" latinLnBrk="0" hangingPunct="1">
        <a:lnSpc>
          <a:spcPct val="90000"/>
        </a:lnSpc>
        <a:spcBef>
          <a:spcPct val="0"/>
        </a:spcBef>
        <a:buNone/>
        <a:defRPr sz="13200" kern="1200">
          <a:solidFill>
            <a:schemeClr val="tx1"/>
          </a:solidFill>
          <a:latin typeface="+mj-lt"/>
          <a:ea typeface="+mj-ea"/>
          <a:cs typeface="+mj-cs"/>
        </a:defRPr>
      </a:lvl1pPr>
    </p:titleStyle>
    <p:body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EAB5C7B5-E21E-4DF1-29C3-6A7C696F066D}"/>
              </a:ext>
            </a:extLst>
          </p:cNvPr>
          <p:cNvSpPr/>
          <p:nvPr/>
        </p:nvSpPr>
        <p:spPr>
          <a:xfrm>
            <a:off x="0" y="42044294"/>
            <a:ext cx="27432001" cy="1871261"/>
          </a:xfrm>
          <a:prstGeom prst="rect">
            <a:avLst/>
          </a:prstGeom>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1DAFF778-F619-892E-88BD-96F79900FAA9}"/>
              </a:ext>
            </a:extLst>
          </p:cNvPr>
          <p:cNvSpPr/>
          <p:nvPr/>
        </p:nvSpPr>
        <p:spPr>
          <a:xfrm>
            <a:off x="-1" y="106268"/>
            <a:ext cx="27432001" cy="3575364"/>
          </a:xfrm>
          <a:prstGeom prst="rect">
            <a:avLst/>
          </a:prstGeom>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8169C2A6-9564-09BF-3989-9D297CD227B5}"/>
              </a:ext>
            </a:extLst>
          </p:cNvPr>
          <p:cNvSpPr>
            <a:spLocks noGrp="1" noRot="1" noMove="1" noResize="1" noEditPoints="1" noAdjustHandles="1" noChangeArrowheads="1" noChangeShapeType="1"/>
          </p:cNvSpPr>
          <p:nvPr/>
        </p:nvSpPr>
        <p:spPr>
          <a:xfrm>
            <a:off x="18040724" y="42544923"/>
            <a:ext cx="9272571" cy="1103498"/>
          </a:xfrm>
          <a:prstGeom prst="rect">
            <a:avLst/>
          </a:prstGeom>
        </p:spPr>
        <p:txBody>
          <a:bodyPr wrap="square">
            <a:noAutofit/>
          </a:bodyPr>
          <a:lstStyle/>
          <a:p>
            <a:pPr>
              <a:spcAft>
                <a:spcPts val="667"/>
              </a:spcAft>
              <a:defRPr/>
            </a:pPr>
            <a:r>
              <a:rPr lang="en-US" altLang="en-US" sz="2333" dirty="0">
                <a:solidFill>
                  <a:schemeClr val="bg1"/>
                </a:solidFill>
                <a:latin typeface="+mj-lt"/>
                <a:ea typeface="Cambria" panose="02040503050406030204" pitchFamily="18" charset="0"/>
              </a:rPr>
              <a:t>Department of Computer Science, Faculty of Science and Technology.</a:t>
            </a:r>
          </a:p>
          <a:p>
            <a:pPr>
              <a:spcAft>
                <a:spcPts val="667"/>
              </a:spcAft>
              <a:defRPr/>
            </a:pPr>
            <a:r>
              <a:rPr lang="en-US" sz="2333" b="1" dirty="0">
                <a:solidFill>
                  <a:schemeClr val="bg1"/>
                </a:solidFill>
                <a:latin typeface="+mj-lt"/>
                <a:ea typeface="Cambria" panose="02040503050406030204" pitchFamily="18" charset="0"/>
              </a:rPr>
              <a:t>American International University-Bangladesh (AIUB)</a:t>
            </a:r>
            <a:endParaRPr lang="en-US" sz="2833" b="1" dirty="0">
              <a:solidFill>
                <a:schemeClr val="bg1"/>
              </a:solidFill>
              <a:latin typeface="+mj-lt"/>
              <a:ea typeface="Cambria" panose="02040503050406030204" pitchFamily="18" charset="0"/>
            </a:endParaRPr>
          </a:p>
          <a:p>
            <a:pPr>
              <a:spcAft>
                <a:spcPts val="67"/>
              </a:spcAft>
              <a:defRPr/>
            </a:pPr>
            <a:endParaRPr lang="en-US" altLang="en-US" sz="2333" dirty="0">
              <a:solidFill>
                <a:schemeClr val="bg1"/>
              </a:solidFill>
              <a:latin typeface="+mj-lt"/>
              <a:ea typeface="Cambria" panose="02040503050406030204" pitchFamily="18" charset="0"/>
            </a:endParaRPr>
          </a:p>
        </p:txBody>
      </p:sp>
      <p:pic>
        <p:nvPicPr>
          <p:cNvPr id="1026" name="Picture 2">
            <a:extLst>
              <a:ext uri="{FF2B5EF4-FFF2-40B4-BE49-F238E27FC236}">
                <a16:creationId xmlns:a16="http://schemas.microsoft.com/office/drawing/2014/main" id="{483903A7-9AB1-3F93-9E69-2D1474DD5481}"/>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3678443" y="322262"/>
            <a:ext cx="2781300" cy="2781300"/>
          </a:xfrm>
          <a:prstGeom prst="rect">
            <a:avLst/>
          </a:prstGeom>
          <a:noFill/>
          <a:extLst>
            <a:ext uri="{909E8E84-426E-40DD-AFC4-6F175D3DCCD1}">
              <a14:hiddenFill xmlns:a14="http://schemas.microsoft.com/office/drawing/2010/main">
                <a:solidFill>
                  <a:srgbClr val="FFFFFF"/>
                </a:solidFill>
              </a14:hiddenFill>
            </a:ext>
          </a:extLst>
        </p:spPr>
      </p:pic>
      <p:cxnSp>
        <p:nvCxnSpPr>
          <p:cNvPr id="1024" name="Straight Connector 1023">
            <a:extLst>
              <a:ext uri="{FF2B5EF4-FFF2-40B4-BE49-F238E27FC236}">
                <a16:creationId xmlns:a16="http://schemas.microsoft.com/office/drawing/2014/main" id="{90329AB1-26B5-DD95-62D2-EA0F04DB75D9}"/>
              </a:ext>
            </a:extLst>
          </p:cNvPr>
          <p:cNvCxnSpPr/>
          <p:nvPr/>
        </p:nvCxnSpPr>
        <p:spPr bwMode="auto">
          <a:xfrm>
            <a:off x="995842" y="40968055"/>
            <a:ext cx="8153400" cy="0"/>
          </a:xfrm>
          <a:prstGeom prst="line">
            <a:avLst/>
          </a:prstGeom>
          <a:noFill/>
          <a:ln w="25400" cap="flat" cmpd="sng" algn="ctr">
            <a:solidFill>
              <a:schemeClr val="tx1"/>
            </a:solidFill>
            <a:prstDash val="dash"/>
            <a:round/>
            <a:headEnd type="none" w="med" len="med"/>
            <a:tailEnd type="none" w="med" len="med"/>
          </a:ln>
          <a:effectLst/>
        </p:spPr>
      </p:cxnSp>
      <p:cxnSp>
        <p:nvCxnSpPr>
          <p:cNvPr id="1037" name="Straight Connector 1036">
            <a:extLst>
              <a:ext uri="{FF2B5EF4-FFF2-40B4-BE49-F238E27FC236}">
                <a16:creationId xmlns:a16="http://schemas.microsoft.com/office/drawing/2014/main" id="{F831B0C1-6CC7-02D5-929B-BBDBF5209391}"/>
              </a:ext>
            </a:extLst>
          </p:cNvPr>
          <p:cNvCxnSpPr/>
          <p:nvPr/>
        </p:nvCxnSpPr>
        <p:spPr bwMode="auto">
          <a:xfrm>
            <a:off x="9811685" y="40968055"/>
            <a:ext cx="8153400" cy="0"/>
          </a:xfrm>
          <a:prstGeom prst="line">
            <a:avLst/>
          </a:prstGeom>
          <a:noFill/>
          <a:ln w="25400" cap="flat" cmpd="sng" algn="ctr">
            <a:solidFill>
              <a:schemeClr val="tx1"/>
            </a:solidFill>
            <a:prstDash val="dash"/>
            <a:round/>
            <a:headEnd type="none" w="med" len="med"/>
            <a:tailEnd type="none" w="med" len="med"/>
          </a:ln>
          <a:effectLst/>
        </p:spPr>
      </p:cxnSp>
      <p:cxnSp>
        <p:nvCxnSpPr>
          <p:cNvPr id="1041" name="Straight Connector 1040">
            <a:extLst>
              <a:ext uri="{FF2B5EF4-FFF2-40B4-BE49-F238E27FC236}">
                <a16:creationId xmlns:a16="http://schemas.microsoft.com/office/drawing/2014/main" id="{93EE4163-5C27-4906-3EC6-77FEC3F7A1CD}"/>
              </a:ext>
            </a:extLst>
          </p:cNvPr>
          <p:cNvCxnSpPr/>
          <p:nvPr/>
        </p:nvCxnSpPr>
        <p:spPr bwMode="auto">
          <a:xfrm>
            <a:off x="18945185" y="40968055"/>
            <a:ext cx="8153400" cy="0"/>
          </a:xfrm>
          <a:prstGeom prst="line">
            <a:avLst/>
          </a:prstGeom>
          <a:noFill/>
          <a:ln w="25400" cap="flat" cmpd="sng" algn="ctr">
            <a:solidFill>
              <a:schemeClr val="tx1"/>
            </a:solidFill>
            <a:prstDash val="dash"/>
            <a:round/>
            <a:headEnd type="none" w="med" len="med"/>
            <a:tailEnd type="none" w="med" len="med"/>
          </a:ln>
          <a:effectLst/>
        </p:spPr>
      </p:cxnSp>
      <p:sp>
        <p:nvSpPr>
          <p:cNvPr id="6" name="TextBox 5">
            <a:extLst>
              <a:ext uri="{FF2B5EF4-FFF2-40B4-BE49-F238E27FC236}">
                <a16:creationId xmlns:a16="http://schemas.microsoft.com/office/drawing/2014/main" id="{EA4AA278-2E91-D85F-9A84-84A2F6651520}"/>
              </a:ext>
            </a:extLst>
          </p:cNvPr>
          <p:cNvSpPr txBox="1"/>
          <p:nvPr/>
        </p:nvSpPr>
        <p:spPr>
          <a:xfrm>
            <a:off x="806124" y="23211558"/>
            <a:ext cx="8153400" cy="599908"/>
          </a:xfrm>
          <a:prstGeom prst="rect">
            <a:avLst/>
          </a:prstGeom>
          <a:noFill/>
        </p:spPr>
        <p:txBody>
          <a:bodyPr wrap="square">
            <a:spAutoFit/>
          </a:bodyPr>
          <a:lstStyle/>
          <a:p>
            <a:pPr algn="just">
              <a:lnSpc>
                <a:spcPts val="3833"/>
              </a:lnSpc>
              <a:spcAft>
                <a:spcPts val="1000"/>
              </a:spcAft>
            </a:pPr>
            <a:r>
              <a:rPr lang="en-US" sz="4000" b="1" dirty="0">
                <a:solidFill>
                  <a:srgbClr val="005BBB"/>
                </a:solidFill>
                <a:latin typeface="+mj-lt"/>
              </a:rPr>
              <a:t>Methodology</a:t>
            </a:r>
          </a:p>
        </p:txBody>
      </p:sp>
      <p:sp>
        <p:nvSpPr>
          <p:cNvPr id="13" name="TextBox 12">
            <a:extLst>
              <a:ext uri="{FF2B5EF4-FFF2-40B4-BE49-F238E27FC236}">
                <a16:creationId xmlns:a16="http://schemas.microsoft.com/office/drawing/2014/main" id="{90297E74-A8DF-114B-A26D-211F94F21A47}"/>
              </a:ext>
            </a:extLst>
          </p:cNvPr>
          <p:cNvSpPr txBox="1"/>
          <p:nvPr/>
        </p:nvSpPr>
        <p:spPr>
          <a:xfrm>
            <a:off x="936655" y="33925897"/>
            <a:ext cx="5559952" cy="599908"/>
          </a:xfrm>
          <a:prstGeom prst="rect">
            <a:avLst/>
          </a:prstGeom>
          <a:noFill/>
        </p:spPr>
        <p:txBody>
          <a:bodyPr wrap="square">
            <a:spAutoFit/>
          </a:bodyPr>
          <a:lstStyle/>
          <a:p>
            <a:pPr algn="just">
              <a:lnSpc>
                <a:spcPts val="3833"/>
              </a:lnSpc>
              <a:spcAft>
                <a:spcPts val="1000"/>
              </a:spcAft>
            </a:pPr>
            <a:r>
              <a:rPr lang="en-US" sz="4000" b="1" dirty="0">
                <a:solidFill>
                  <a:srgbClr val="005BBB"/>
                </a:solidFill>
                <a:latin typeface="+mj-lt"/>
              </a:rPr>
              <a:t>Architecture Diagram</a:t>
            </a:r>
          </a:p>
        </p:txBody>
      </p:sp>
      <p:pic>
        <p:nvPicPr>
          <p:cNvPr id="20" name="Picture 19" descr="A close-up of a diagram&#10;&#10;Description automatically generated">
            <a:extLst>
              <a:ext uri="{FF2B5EF4-FFF2-40B4-BE49-F238E27FC236}">
                <a16:creationId xmlns:a16="http://schemas.microsoft.com/office/drawing/2014/main" id="{C7A78BC5-7D43-52E2-8807-71AF83A710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3011" y="5694502"/>
            <a:ext cx="8296709" cy="3486731"/>
          </a:xfrm>
          <a:prstGeom prst="rect">
            <a:avLst/>
          </a:prstGeom>
        </p:spPr>
      </p:pic>
      <p:sp>
        <p:nvSpPr>
          <p:cNvPr id="22" name="TextBox 21">
            <a:extLst>
              <a:ext uri="{FF2B5EF4-FFF2-40B4-BE49-F238E27FC236}">
                <a16:creationId xmlns:a16="http://schemas.microsoft.com/office/drawing/2014/main" id="{F2F3297E-EA6F-A17F-48C8-55ACA0256378}"/>
              </a:ext>
            </a:extLst>
          </p:cNvPr>
          <p:cNvSpPr txBox="1"/>
          <p:nvPr/>
        </p:nvSpPr>
        <p:spPr>
          <a:xfrm>
            <a:off x="9956882" y="9414568"/>
            <a:ext cx="8153400" cy="2277547"/>
          </a:xfrm>
          <a:prstGeom prst="rect">
            <a:avLst/>
          </a:prstGeom>
          <a:noFill/>
        </p:spPr>
        <p:txBody>
          <a:bodyPr wrap="square">
            <a:spAutoFit/>
          </a:bodyPr>
          <a:lstStyle/>
          <a:p>
            <a:r>
              <a:rPr lang="en-US" sz="2000" b="1" dirty="0">
                <a:latin typeface="+mj-lt"/>
              </a:rPr>
              <a:t>Fig 1: </a:t>
            </a:r>
            <a:r>
              <a:rPr lang="en-US" sz="2000" dirty="0" err="1">
                <a:latin typeface="+mj-lt"/>
              </a:rPr>
              <a:t>FedBN</a:t>
            </a:r>
            <a:r>
              <a:rPr lang="en-US" sz="2000" dirty="0">
                <a:latin typeface="+mj-lt"/>
              </a:rPr>
              <a:t> confusion matrix on internal test set</a:t>
            </a:r>
          </a:p>
          <a:p>
            <a:endParaRPr lang="en-US" dirty="0">
              <a:latin typeface="+mj-lt"/>
            </a:endParaRPr>
          </a:p>
          <a:p>
            <a:pPr algn="just"/>
            <a:r>
              <a:rPr lang="en-US" sz="2600" dirty="0">
                <a:latin typeface="+mj-lt"/>
              </a:rPr>
              <a:t>Accuracy=92.7%, MCC=0.881. Near-perfect classification for </a:t>
            </a:r>
            <a:r>
              <a:rPr lang="en-US" sz="2600" dirty="0" err="1">
                <a:latin typeface="+mj-lt"/>
              </a:rPr>
              <a:t>NonDemented</a:t>
            </a:r>
            <a:r>
              <a:rPr lang="en-US" sz="2600" dirty="0">
                <a:latin typeface="+mj-lt"/>
              </a:rPr>
              <a:t> (94%) and </a:t>
            </a:r>
            <a:r>
              <a:rPr lang="en-US" sz="2600" dirty="0" err="1">
                <a:latin typeface="+mj-lt"/>
              </a:rPr>
              <a:t>MildDemented</a:t>
            </a:r>
            <a:r>
              <a:rPr lang="en-US" sz="2600" dirty="0">
                <a:latin typeface="+mj-lt"/>
              </a:rPr>
              <a:t> (98%). </a:t>
            </a:r>
            <a:r>
              <a:rPr lang="en-US" sz="2600" dirty="0" err="1">
                <a:latin typeface="+mj-lt"/>
              </a:rPr>
              <a:t>ModerateDemented</a:t>
            </a:r>
            <a:r>
              <a:rPr lang="en-US" sz="2600" dirty="0">
                <a:latin typeface="+mj-lt"/>
              </a:rPr>
              <a:t> fully captured (100%). Normalized and count views shown.</a:t>
            </a:r>
          </a:p>
        </p:txBody>
      </p:sp>
      <p:pic>
        <p:nvPicPr>
          <p:cNvPr id="24" name="Picture 23" descr="A graph with different colored lines&#10;&#10;Description automatically generated">
            <a:extLst>
              <a:ext uri="{FF2B5EF4-FFF2-40B4-BE49-F238E27FC236}">
                <a16:creationId xmlns:a16="http://schemas.microsoft.com/office/drawing/2014/main" id="{A3309F67-6B15-29D4-2921-080579B24D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60639" y="11847872"/>
            <a:ext cx="8621916" cy="4310958"/>
          </a:xfrm>
          <a:prstGeom prst="rect">
            <a:avLst/>
          </a:prstGeom>
        </p:spPr>
      </p:pic>
      <p:sp>
        <p:nvSpPr>
          <p:cNvPr id="26" name="TextBox 25">
            <a:extLst>
              <a:ext uri="{FF2B5EF4-FFF2-40B4-BE49-F238E27FC236}">
                <a16:creationId xmlns:a16="http://schemas.microsoft.com/office/drawing/2014/main" id="{0508FF37-B230-4D77-62DE-51E55E81D683}"/>
              </a:ext>
            </a:extLst>
          </p:cNvPr>
          <p:cNvSpPr txBox="1"/>
          <p:nvPr/>
        </p:nvSpPr>
        <p:spPr>
          <a:xfrm>
            <a:off x="9956882" y="16340590"/>
            <a:ext cx="8621916" cy="1815882"/>
          </a:xfrm>
          <a:prstGeom prst="rect">
            <a:avLst/>
          </a:prstGeom>
          <a:noFill/>
        </p:spPr>
        <p:txBody>
          <a:bodyPr wrap="square">
            <a:spAutoFit/>
          </a:bodyPr>
          <a:lstStyle/>
          <a:p>
            <a:r>
              <a:rPr lang="en-US" sz="2000" b="1" dirty="0">
                <a:latin typeface="+mj-lt"/>
              </a:rPr>
              <a:t>Fig 2: </a:t>
            </a:r>
            <a:r>
              <a:rPr lang="en-US" sz="2000" dirty="0">
                <a:latin typeface="+mj-lt"/>
              </a:rPr>
              <a:t>Convergence of </a:t>
            </a:r>
            <a:r>
              <a:rPr lang="en-US" sz="2000" dirty="0" err="1">
                <a:latin typeface="+mj-lt"/>
              </a:rPr>
              <a:t>FedAvg</a:t>
            </a:r>
            <a:r>
              <a:rPr lang="en-US" sz="2000" dirty="0">
                <a:latin typeface="+mj-lt"/>
              </a:rPr>
              <a:t>, </a:t>
            </a:r>
            <a:r>
              <a:rPr lang="en-US" sz="2000" dirty="0" err="1">
                <a:latin typeface="+mj-lt"/>
              </a:rPr>
              <a:t>FedProx</a:t>
            </a:r>
            <a:r>
              <a:rPr lang="en-US" sz="2000" dirty="0">
                <a:latin typeface="+mj-lt"/>
              </a:rPr>
              <a:t>, and </a:t>
            </a:r>
            <a:r>
              <a:rPr lang="en-US" sz="2000" dirty="0" err="1">
                <a:latin typeface="+mj-lt"/>
              </a:rPr>
              <a:t>FedBN</a:t>
            </a:r>
            <a:r>
              <a:rPr lang="en-US" sz="2000" dirty="0">
                <a:latin typeface="+mj-lt"/>
              </a:rPr>
              <a:t> across federated communication rounds.</a:t>
            </a:r>
          </a:p>
          <a:p>
            <a:endParaRPr lang="en-US" sz="2000" dirty="0">
              <a:latin typeface="+mj-lt"/>
            </a:endParaRPr>
          </a:p>
          <a:p>
            <a:r>
              <a:rPr lang="en-US" sz="2600" dirty="0" err="1">
                <a:latin typeface="+mj-lt"/>
              </a:rPr>
              <a:t>FedBN</a:t>
            </a:r>
            <a:r>
              <a:rPr lang="en-US" sz="2600" dirty="0">
                <a:latin typeface="+mj-lt"/>
              </a:rPr>
              <a:t> demonstrates fastest convergence and highest terminal performance due to site-specific batch normalization.</a:t>
            </a:r>
          </a:p>
        </p:txBody>
      </p:sp>
      <p:pic>
        <p:nvPicPr>
          <p:cNvPr id="28" name="Picture 27" descr="A graph of different colored lines&#10;&#10;Description automatically generated">
            <a:extLst>
              <a:ext uri="{FF2B5EF4-FFF2-40B4-BE49-F238E27FC236}">
                <a16:creationId xmlns:a16="http://schemas.microsoft.com/office/drawing/2014/main" id="{D967FDD8-1937-8857-DDB6-7A31770783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32151" y="18333094"/>
            <a:ext cx="8550404" cy="5028299"/>
          </a:xfrm>
          <a:prstGeom prst="rect">
            <a:avLst/>
          </a:prstGeom>
        </p:spPr>
      </p:pic>
      <p:sp>
        <p:nvSpPr>
          <p:cNvPr id="30" name="TextBox 29">
            <a:extLst>
              <a:ext uri="{FF2B5EF4-FFF2-40B4-BE49-F238E27FC236}">
                <a16:creationId xmlns:a16="http://schemas.microsoft.com/office/drawing/2014/main" id="{6D1526F4-F3BC-F6D5-3D8A-C99257193B72}"/>
              </a:ext>
            </a:extLst>
          </p:cNvPr>
          <p:cNvSpPr txBox="1"/>
          <p:nvPr/>
        </p:nvSpPr>
        <p:spPr>
          <a:xfrm>
            <a:off x="9862723" y="23634968"/>
            <a:ext cx="8467570" cy="1908215"/>
          </a:xfrm>
          <a:prstGeom prst="rect">
            <a:avLst/>
          </a:prstGeom>
          <a:noFill/>
        </p:spPr>
        <p:txBody>
          <a:bodyPr wrap="square">
            <a:spAutoFit/>
          </a:bodyPr>
          <a:lstStyle/>
          <a:p>
            <a:r>
              <a:rPr lang="en-US" sz="2000" b="1" dirty="0">
                <a:latin typeface="+mj-lt"/>
              </a:rPr>
              <a:t>Fig 3: </a:t>
            </a:r>
            <a:r>
              <a:rPr lang="en-US" sz="2000" dirty="0">
                <a:latin typeface="+mj-lt"/>
              </a:rPr>
              <a:t>5-fold CV training dynamics of </a:t>
            </a:r>
            <a:r>
              <a:rPr lang="en-US" sz="2000" dirty="0" err="1">
                <a:latin typeface="+mj-lt"/>
              </a:rPr>
              <a:t>DualAttenADNet</a:t>
            </a:r>
            <a:r>
              <a:rPr lang="en-US" sz="2000" dirty="0">
                <a:latin typeface="+mj-lt"/>
              </a:rPr>
              <a:t> with EMA smoothing.</a:t>
            </a:r>
          </a:p>
          <a:p>
            <a:endParaRPr lang="en-US" sz="2000" dirty="0">
              <a:latin typeface="+mj-lt"/>
            </a:endParaRPr>
          </a:p>
          <a:p>
            <a:r>
              <a:rPr lang="en-US" sz="2600" dirty="0">
                <a:latin typeface="+mj-lt"/>
              </a:rPr>
              <a:t>Peak metrics : Val AUC-macro: 0.892 | Val F1-macro: 0.752 | Val Accuracy: 0.685. Stable convergence across all folds confirms model robustness.</a:t>
            </a:r>
          </a:p>
        </p:txBody>
      </p:sp>
      <p:pic>
        <p:nvPicPr>
          <p:cNvPr id="32" name="Picture 31" descr="A graph with a bar graph&#10;&#10;Description automatically generated">
            <a:extLst>
              <a:ext uri="{FF2B5EF4-FFF2-40B4-BE49-F238E27FC236}">
                <a16:creationId xmlns:a16="http://schemas.microsoft.com/office/drawing/2014/main" id="{2C625776-FC6A-779B-29E1-F3232E2F24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60639" y="25987244"/>
            <a:ext cx="8569654" cy="2390879"/>
          </a:xfrm>
          <a:prstGeom prst="rect">
            <a:avLst/>
          </a:prstGeom>
        </p:spPr>
      </p:pic>
      <p:sp>
        <p:nvSpPr>
          <p:cNvPr id="34" name="TextBox 33">
            <a:extLst>
              <a:ext uri="{FF2B5EF4-FFF2-40B4-BE49-F238E27FC236}">
                <a16:creationId xmlns:a16="http://schemas.microsoft.com/office/drawing/2014/main" id="{374F1BB2-AB9F-5B59-9C76-48A35E0BBE0B}"/>
              </a:ext>
            </a:extLst>
          </p:cNvPr>
          <p:cNvSpPr txBox="1"/>
          <p:nvPr/>
        </p:nvSpPr>
        <p:spPr>
          <a:xfrm>
            <a:off x="9956883" y="28709041"/>
            <a:ext cx="8794438" cy="2215991"/>
          </a:xfrm>
          <a:prstGeom prst="rect">
            <a:avLst/>
          </a:prstGeom>
          <a:noFill/>
        </p:spPr>
        <p:txBody>
          <a:bodyPr wrap="square">
            <a:spAutoFit/>
          </a:bodyPr>
          <a:lstStyle/>
          <a:p>
            <a:r>
              <a:rPr lang="en-US" sz="2000" b="1" dirty="0">
                <a:latin typeface="+mj-lt"/>
              </a:rPr>
              <a:t>Fig 4: </a:t>
            </a:r>
            <a:r>
              <a:rPr lang="en-US" sz="2000" dirty="0">
                <a:latin typeface="+mj-lt"/>
              </a:rPr>
              <a:t>Fairness audit across age (young-old 60–74 / old-old 75+), sex (M/F), </a:t>
            </a:r>
          </a:p>
          <a:p>
            <a:r>
              <a:rPr lang="en-US" sz="2000" dirty="0">
                <a:latin typeface="+mj-lt"/>
              </a:rPr>
              <a:t>site (OASIS/external), and disease stage subgroups.</a:t>
            </a:r>
          </a:p>
          <a:p>
            <a:endParaRPr lang="en-US" sz="2000" dirty="0">
              <a:latin typeface="+mj-lt"/>
            </a:endParaRPr>
          </a:p>
          <a:p>
            <a:r>
              <a:rPr lang="en-US" sz="2600" dirty="0">
                <a:latin typeface="+mj-lt"/>
              </a:rPr>
              <a:t>Equitable accuracy and AUC across sex and age groups (Δ&lt;0.003) confirms minimal demographic bias in </a:t>
            </a:r>
            <a:r>
              <a:rPr lang="en-US" sz="2600" dirty="0" err="1">
                <a:latin typeface="+mj-lt"/>
              </a:rPr>
              <a:t>DualAttenADNet</a:t>
            </a:r>
            <a:r>
              <a:rPr lang="en-US" sz="2600" dirty="0">
                <a:latin typeface="+mj-lt"/>
              </a:rPr>
              <a:t>.</a:t>
            </a:r>
          </a:p>
        </p:txBody>
      </p:sp>
      <p:pic>
        <p:nvPicPr>
          <p:cNvPr id="36" name="Picture 35">
            <a:extLst>
              <a:ext uri="{FF2B5EF4-FFF2-40B4-BE49-F238E27FC236}">
                <a16:creationId xmlns:a16="http://schemas.microsoft.com/office/drawing/2014/main" id="{C442519A-3C69-AB14-21B2-8274047A189B}"/>
              </a:ext>
            </a:extLst>
          </p:cNvPr>
          <p:cNvPicPr>
            <a:picLocks noChangeAspect="1"/>
          </p:cNvPicPr>
          <p:nvPr/>
        </p:nvPicPr>
        <p:blipFill>
          <a:blip r:embed="rId7"/>
          <a:stretch>
            <a:fillRect/>
          </a:stretch>
        </p:blipFill>
        <p:spPr>
          <a:xfrm>
            <a:off x="9708578" y="31192165"/>
            <a:ext cx="8621715" cy="3052586"/>
          </a:xfrm>
          <a:prstGeom prst="rect">
            <a:avLst/>
          </a:prstGeom>
        </p:spPr>
      </p:pic>
      <p:sp>
        <p:nvSpPr>
          <p:cNvPr id="38" name="TextBox 37">
            <a:extLst>
              <a:ext uri="{FF2B5EF4-FFF2-40B4-BE49-F238E27FC236}">
                <a16:creationId xmlns:a16="http://schemas.microsoft.com/office/drawing/2014/main" id="{DB36F18A-60EA-DB00-66D9-FF4B23887D89}"/>
              </a:ext>
            </a:extLst>
          </p:cNvPr>
          <p:cNvSpPr txBox="1"/>
          <p:nvPr/>
        </p:nvSpPr>
        <p:spPr>
          <a:xfrm>
            <a:off x="9880268" y="34415216"/>
            <a:ext cx="8502287" cy="1785104"/>
          </a:xfrm>
          <a:prstGeom prst="rect">
            <a:avLst/>
          </a:prstGeom>
          <a:noFill/>
        </p:spPr>
        <p:txBody>
          <a:bodyPr wrap="square">
            <a:spAutoFit/>
          </a:bodyPr>
          <a:lstStyle/>
          <a:p>
            <a:r>
              <a:rPr lang="en-US" sz="2000" b="1" dirty="0">
                <a:latin typeface="+mj-lt"/>
              </a:rPr>
              <a:t>Fig 5: </a:t>
            </a:r>
            <a:r>
              <a:rPr lang="en-US" sz="2000" dirty="0">
                <a:latin typeface="+mj-lt"/>
              </a:rPr>
              <a:t>Comparative AUC and F1-macro scores across all strategies</a:t>
            </a:r>
          </a:p>
          <a:p>
            <a:r>
              <a:rPr lang="en-US" sz="2000" dirty="0">
                <a:latin typeface="+mj-lt"/>
              </a:rPr>
              <a:t> (Centralized, </a:t>
            </a:r>
            <a:r>
              <a:rPr lang="en-US" sz="2000" dirty="0" err="1">
                <a:latin typeface="+mj-lt"/>
              </a:rPr>
              <a:t>FedAvg</a:t>
            </a:r>
            <a:r>
              <a:rPr lang="en-US" sz="2000" dirty="0">
                <a:latin typeface="+mj-lt"/>
              </a:rPr>
              <a:t>, </a:t>
            </a:r>
            <a:r>
              <a:rPr lang="en-US" sz="2000" dirty="0" err="1">
                <a:latin typeface="+mj-lt"/>
              </a:rPr>
              <a:t>FedProx</a:t>
            </a:r>
            <a:r>
              <a:rPr lang="en-US" sz="2000" dirty="0">
                <a:latin typeface="+mj-lt"/>
              </a:rPr>
              <a:t>, </a:t>
            </a:r>
            <a:r>
              <a:rPr lang="en-US" sz="2000" dirty="0" err="1">
                <a:latin typeface="+mj-lt"/>
              </a:rPr>
              <a:t>FedBN</a:t>
            </a:r>
            <a:r>
              <a:rPr lang="en-US" sz="2000" dirty="0">
                <a:latin typeface="+mj-lt"/>
              </a:rPr>
              <a:t>) on internal and external test sets.</a:t>
            </a:r>
          </a:p>
          <a:p>
            <a:endParaRPr lang="en-US" dirty="0">
              <a:latin typeface="+mj-lt"/>
            </a:endParaRPr>
          </a:p>
          <a:p>
            <a:r>
              <a:rPr lang="en-US" sz="2600" dirty="0" err="1">
                <a:latin typeface="+mj-lt"/>
              </a:rPr>
              <a:t>FedBN</a:t>
            </a:r>
            <a:r>
              <a:rPr lang="en-US" sz="2600" dirty="0">
                <a:latin typeface="+mj-lt"/>
              </a:rPr>
              <a:t> achieves best internal AUC=0.991, F1=0.945. External generalization gap highlights domain shift challenge.</a:t>
            </a:r>
          </a:p>
        </p:txBody>
      </p:sp>
      <p:sp>
        <p:nvSpPr>
          <p:cNvPr id="3" name="TextBox 2">
            <a:extLst>
              <a:ext uri="{FF2B5EF4-FFF2-40B4-BE49-F238E27FC236}">
                <a16:creationId xmlns:a16="http://schemas.microsoft.com/office/drawing/2014/main" id="{C84C3507-5EB0-5E22-F7F3-12128DDBB6AA}"/>
              </a:ext>
            </a:extLst>
          </p:cNvPr>
          <p:cNvSpPr txBox="1"/>
          <p:nvPr/>
        </p:nvSpPr>
        <p:spPr>
          <a:xfrm>
            <a:off x="2105024" y="751390"/>
            <a:ext cx="22636729" cy="1000274"/>
          </a:xfrm>
          <a:prstGeom prst="rect">
            <a:avLst/>
          </a:prstGeom>
          <a:noFill/>
        </p:spPr>
        <p:txBody>
          <a:bodyPr wrap="square">
            <a:spAutoFit/>
          </a:bodyPr>
          <a:lstStyle/>
          <a:p>
            <a:r>
              <a:rPr lang="en-US" sz="5900" dirty="0">
                <a:solidFill>
                  <a:schemeClr val="bg1"/>
                </a:solidFill>
                <a:latin typeface="+mj-lt"/>
              </a:rPr>
              <a:t>Explainable Federated Deep learning for Alzheimer's Disease Detection</a:t>
            </a:r>
          </a:p>
        </p:txBody>
      </p:sp>
      <p:sp>
        <p:nvSpPr>
          <p:cNvPr id="7" name="TextBox 6">
            <a:extLst>
              <a:ext uri="{FF2B5EF4-FFF2-40B4-BE49-F238E27FC236}">
                <a16:creationId xmlns:a16="http://schemas.microsoft.com/office/drawing/2014/main" id="{AF4E5034-857E-E4E2-9C4C-A9708A49F883}"/>
              </a:ext>
            </a:extLst>
          </p:cNvPr>
          <p:cNvSpPr txBox="1"/>
          <p:nvPr/>
        </p:nvSpPr>
        <p:spPr>
          <a:xfrm>
            <a:off x="2603500" y="2113071"/>
            <a:ext cx="20928579" cy="553998"/>
          </a:xfrm>
          <a:prstGeom prst="rect">
            <a:avLst/>
          </a:prstGeom>
          <a:noFill/>
        </p:spPr>
        <p:txBody>
          <a:bodyPr wrap="square">
            <a:spAutoFit/>
          </a:bodyPr>
          <a:lstStyle/>
          <a:p>
            <a:pPr>
              <a:spcBef>
                <a:spcPts val="1500"/>
              </a:spcBef>
              <a:defRPr/>
            </a:pPr>
            <a:r>
              <a:rPr lang="en-US" altLang="en-US" sz="3000" dirty="0" err="1">
                <a:solidFill>
                  <a:schemeClr val="bg1"/>
                </a:solidFill>
                <a:latin typeface="+mj-lt"/>
                <a:ea typeface="Cambria" panose="02040503050406030204" pitchFamily="18" charset="0"/>
              </a:rPr>
              <a:t>Hamidul</a:t>
            </a:r>
            <a:r>
              <a:rPr lang="en-US" altLang="en-US" sz="3000" dirty="0">
                <a:solidFill>
                  <a:schemeClr val="bg1"/>
                </a:solidFill>
                <a:latin typeface="+mj-lt"/>
                <a:ea typeface="Cambria" panose="02040503050406030204" pitchFamily="18" charset="0"/>
              </a:rPr>
              <a:t> Islam (23-50447-1), Md. Shamsul Islam (23-50735-1), Abtahi Islam (23-50434-1), Md. </a:t>
            </a:r>
            <a:r>
              <a:rPr lang="en-US" altLang="en-US" sz="3000" dirty="0" err="1">
                <a:solidFill>
                  <a:schemeClr val="bg1"/>
                </a:solidFill>
                <a:latin typeface="+mj-lt"/>
                <a:ea typeface="Cambria" panose="02040503050406030204" pitchFamily="18" charset="0"/>
              </a:rPr>
              <a:t>Hasibul</a:t>
            </a:r>
            <a:r>
              <a:rPr lang="en-US" altLang="en-US" sz="3000" dirty="0">
                <a:solidFill>
                  <a:schemeClr val="bg1"/>
                </a:solidFill>
                <a:latin typeface="+mj-lt"/>
                <a:ea typeface="Cambria" panose="02040503050406030204" pitchFamily="18" charset="0"/>
              </a:rPr>
              <a:t> Islam (23-50434-1)</a:t>
            </a:r>
          </a:p>
        </p:txBody>
      </p:sp>
      <p:sp>
        <p:nvSpPr>
          <p:cNvPr id="9" name="Rectangle 1">
            <a:extLst>
              <a:ext uri="{FF2B5EF4-FFF2-40B4-BE49-F238E27FC236}">
                <a16:creationId xmlns:a16="http://schemas.microsoft.com/office/drawing/2014/main" id="{C9BDF33C-93BE-E415-C71A-01A6F72A75B3}"/>
              </a:ext>
            </a:extLst>
          </p:cNvPr>
          <p:cNvSpPr>
            <a:spLocks noChangeArrowheads="1"/>
          </p:cNvSpPr>
          <p:nvPr/>
        </p:nvSpPr>
        <p:spPr bwMode="auto">
          <a:xfrm>
            <a:off x="19248378" y="15808117"/>
            <a:ext cx="7757126" cy="854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algn="just">
              <a:lnSpc>
                <a:spcPts val="3833"/>
              </a:lnSpc>
              <a:spcAft>
                <a:spcPts val="1000"/>
              </a:spcAft>
            </a:pPr>
            <a:r>
              <a:rPr lang="en-US" sz="4000" b="1" dirty="0">
                <a:solidFill>
                  <a:srgbClr val="005BBB"/>
                </a:solidFill>
                <a:latin typeface="+mj-lt"/>
              </a:rPr>
              <a:t>Discussion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mj-lt"/>
              </a:rPr>
              <a:t>Overcoming Domain Shift:</a:t>
            </a:r>
            <a:r>
              <a:rPr kumimoji="0" lang="en-US" altLang="en-US" sz="2600" b="0" i="0" u="none" strike="noStrike" cap="none" normalizeH="0" baseline="0" dirty="0">
                <a:ln>
                  <a:noFill/>
                </a:ln>
                <a:solidFill>
                  <a:schemeClr val="tx1"/>
                </a:solidFill>
                <a:effectLst/>
                <a:latin typeface="+mj-lt"/>
              </a:rPr>
              <a:t> The proposed federated approach (</a:t>
            </a:r>
            <a:r>
              <a:rPr kumimoji="0" lang="en-US" altLang="en-US" sz="2600" b="0" i="0" u="none" strike="noStrike" cap="none" normalizeH="0" baseline="0" dirty="0" err="1">
                <a:ln>
                  <a:noFill/>
                </a:ln>
                <a:solidFill>
                  <a:schemeClr val="tx1"/>
                </a:solidFill>
                <a:effectLst/>
                <a:latin typeface="+mj-lt"/>
              </a:rPr>
              <a:t>FedBN</a:t>
            </a:r>
            <a:r>
              <a:rPr kumimoji="0" lang="en-US" altLang="en-US" sz="2600" b="0" i="0" u="none" strike="noStrike" cap="none" normalizeH="0" baseline="0" dirty="0">
                <a:ln>
                  <a:noFill/>
                </a:ln>
                <a:solidFill>
                  <a:schemeClr val="tx1"/>
                </a:solidFill>
                <a:effectLst/>
                <a:latin typeface="+mj-lt"/>
              </a:rPr>
              <a:t>) vastly outperformed the centralized model, elevating diagnostic accuracy from 68.56% to a robust 92.74%. This confirms that retaining local normalization statistics successfully mitigates the severe data distribution disparities typically found across different clinical sites.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mj-lt"/>
              </a:rPr>
              <a:t>Clinical Viability &amp; Privacy:</a:t>
            </a:r>
            <a:r>
              <a:rPr kumimoji="0" lang="en-US" altLang="en-US" sz="2600" b="0" i="0" u="none" strike="noStrike" cap="none" normalizeH="0" baseline="0" dirty="0">
                <a:ln>
                  <a:noFill/>
                </a:ln>
                <a:solidFill>
                  <a:schemeClr val="tx1"/>
                </a:solidFill>
                <a:effectLst/>
                <a:latin typeface="+mj-lt"/>
              </a:rPr>
              <a:t> By training collaboratively across multiple institutions without ever exchanging raw MRI scans, the framework completely resolves critical patient data privacy bottlenecks while maintaining peak diagnostic performance.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mj-lt"/>
              </a:rPr>
              <a:t>Trust Through Transparency:</a:t>
            </a:r>
            <a:r>
              <a:rPr kumimoji="0" lang="en-US" altLang="en-US" sz="2600" b="0" i="0" u="none" strike="noStrike" cap="none" normalizeH="0" baseline="0" dirty="0">
                <a:ln>
                  <a:noFill/>
                </a:ln>
                <a:solidFill>
                  <a:schemeClr val="tx1"/>
                </a:solidFill>
                <a:effectLst/>
                <a:latin typeface="+mj-lt"/>
              </a:rPr>
              <a:t> The hybrid CNN-Transformer architecture, validated by a rigorous suite of XAI methods, ensures that model predictions are driven by genuine anatomical biomarkers (like cortical thinning) rather than background noise. This bridges the gap between opaque deep learning models and trustworthy clinical application.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j-lt"/>
            </a:endParaRPr>
          </a:p>
        </p:txBody>
      </p:sp>
      <p:sp>
        <p:nvSpPr>
          <p:cNvPr id="16" name="TextBox 15">
            <a:extLst>
              <a:ext uri="{FF2B5EF4-FFF2-40B4-BE49-F238E27FC236}">
                <a16:creationId xmlns:a16="http://schemas.microsoft.com/office/drawing/2014/main" id="{611047B6-BB25-89C0-F83B-7DA802162601}"/>
              </a:ext>
            </a:extLst>
          </p:cNvPr>
          <p:cNvSpPr txBox="1"/>
          <p:nvPr/>
        </p:nvSpPr>
        <p:spPr>
          <a:xfrm>
            <a:off x="19187880" y="24207751"/>
            <a:ext cx="7677132" cy="4170372"/>
          </a:xfrm>
          <a:prstGeom prst="rect">
            <a:avLst/>
          </a:prstGeom>
          <a:noFill/>
        </p:spPr>
        <p:txBody>
          <a:bodyPr wrap="square">
            <a:spAutoFit/>
          </a:bodyPr>
          <a:lstStyle/>
          <a:p>
            <a:pPr algn="just"/>
            <a:r>
              <a:rPr lang="en-US" sz="4000" b="1" dirty="0">
                <a:solidFill>
                  <a:srgbClr val="005BBB"/>
                </a:solidFill>
                <a:latin typeface="+mj-lt"/>
              </a:rPr>
              <a:t>Conclusion</a:t>
            </a:r>
          </a:p>
          <a:p>
            <a:pPr algn="just"/>
            <a:endParaRPr lang="en-US" sz="2500" dirty="0">
              <a:latin typeface="+mj-lt"/>
            </a:endParaRPr>
          </a:p>
          <a:p>
            <a:pPr algn="just"/>
            <a:r>
              <a:rPr lang="en-US" sz="2500" dirty="0"/>
              <a:t>The dual-channel CNN-Transformer model using federated learning achieves highly accurate, privacy-preserving Alzheimer's screening on internal data. However, its poor performance on external datasets reveals a significant domain shift issue, meaning advanced data harmonization is essential before this explainable AI can be reliably deployed in clinical settings.</a:t>
            </a:r>
            <a:endParaRPr lang="en-US" sz="2500" dirty="0">
              <a:latin typeface="+mj-lt"/>
            </a:endParaRPr>
          </a:p>
        </p:txBody>
      </p:sp>
      <p:sp>
        <p:nvSpPr>
          <p:cNvPr id="21" name="TextBox 20">
            <a:extLst>
              <a:ext uri="{FF2B5EF4-FFF2-40B4-BE49-F238E27FC236}">
                <a16:creationId xmlns:a16="http://schemas.microsoft.com/office/drawing/2014/main" id="{127A967F-2C1D-BCA8-E532-3D7BBA41879C}"/>
              </a:ext>
            </a:extLst>
          </p:cNvPr>
          <p:cNvSpPr txBox="1"/>
          <p:nvPr/>
        </p:nvSpPr>
        <p:spPr>
          <a:xfrm>
            <a:off x="19158796" y="28501667"/>
            <a:ext cx="7467080" cy="707886"/>
          </a:xfrm>
          <a:prstGeom prst="rect">
            <a:avLst/>
          </a:prstGeom>
          <a:noFill/>
        </p:spPr>
        <p:txBody>
          <a:bodyPr wrap="square">
            <a:spAutoFit/>
          </a:bodyPr>
          <a:lstStyle/>
          <a:p>
            <a:pPr algn="just"/>
            <a:r>
              <a:rPr lang="en-US" sz="4000" b="1" dirty="0">
                <a:solidFill>
                  <a:srgbClr val="005BBB"/>
                </a:solidFill>
                <a:latin typeface="+mj-lt"/>
              </a:rPr>
              <a:t>Reference:</a:t>
            </a:r>
          </a:p>
        </p:txBody>
      </p:sp>
      <p:pic>
        <p:nvPicPr>
          <p:cNvPr id="25" name="Picture 24">
            <a:extLst>
              <a:ext uri="{FF2B5EF4-FFF2-40B4-BE49-F238E27FC236}">
                <a16:creationId xmlns:a16="http://schemas.microsoft.com/office/drawing/2014/main" id="{62FBBD97-C9EF-14BC-EF98-50A5CA7B35EB}"/>
              </a:ext>
            </a:extLst>
          </p:cNvPr>
          <p:cNvPicPr>
            <a:picLocks noChangeAspect="1"/>
          </p:cNvPicPr>
          <p:nvPr/>
        </p:nvPicPr>
        <p:blipFill>
          <a:blip r:embed="rId8"/>
          <a:stretch>
            <a:fillRect/>
          </a:stretch>
        </p:blipFill>
        <p:spPr>
          <a:xfrm>
            <a:off x="19248378" y="4703823"/>
            <a:ext cx="7831204" cy="2935836"/>
          </a:xfrm>
          <a:prstGeom prst="rect">
            <a:avLst/>
          </a:prstGeom>
        </p:spPr>
      </p:pic>
      <p:sp>
        <p:nvSpPr>
          <p:cNvPr id="29" name="TextBox 28">
            <a:extLst>
              <a:ext uri="{FF2B5EF4-FFF2-40B4-BE49-F238E27FC236}">
                <a16:creationId xmlns:a16="http://schemas.microsoft.com/office/drawing/2014/main" id="{61BAB515-6A18-B463-56AB-4C1342B26652}"/>
              </a:ext>
            </a:extLst>
          </p:cNvPr>
          <p:cNvSpPr txBox="1"/>
          <p:nvPr/>
        </p:nvSpPr>
        <p:spPr>
          <a:xfrm>
            <a:off x="19187634" y="9599405"/>
            <a:ext cx="7864477" cy="2092881"/>
          </a:xfrm>
          <a:prstGeom prst="rect">
            <a:avLst/>
          </a:prstGeom>
          <a:noFill/>
        </p:spPr>
        <p:txBody>
          <a:bodyPr wrap="square">
            <a:spAutoFit/>
          </a:bodyPr>
          <a:lstStyle/>
          <a:p>
            <a:pPr algn="just"/>
            <a:r>
              <a:rPr lang="en-US" sz="2600" dirty="0">
                <a:latin typeface="+mj-lt"/>
              </a:rPr>
              <a:t>Internal and external performance of centralized, </a:t>
            </a:r>
            <a:r>
              <a:rPr lang="en-US" sz="2600" dirty="0" err="1">
                <a:latin typeface="+mj-lt"/>
              </a:rPr>
              <a:t>FedAvg</a:t>
            </a:r>
            <a:r>
              <a:rPr lang="en-US" sz="2600" dirty="0">
                <a:latin typeface="+mj-lt"/>
              </a:rPr>
              <a:t>, </a:t>
            </a:r>
            <a:r>
              <a:rPr lang="en-US" sz="2600" dirty="0" err="1">
                <a:latin typeface="+mj-lt"/>
              </a:rPr>
              <a:t>FedProx</a:t>
            </a:r>
            <a:r>
              <a:rPr lang="en-US" sz="2600" dirty="0">
                <a:latin typeface="+mj-lt"/>
              </a:rPr>
              <a:t>, and </a:t>
            </a:r>
            <a:r>
              <a:rPr lang="en-US" sz="2600" dirty="0" err="1">
                <a:latin typeface="+mj-lt"/>
              </a:rPr>
              <a:t>FedBN</a:t>
            </a:r>
            <a:r>
              <a:rPr lang="en-US" sz="2600" dirty="0">
                <a:latin typeface="+mj-lt"/>
              </a:rPr>
              <a:t> models. Federated models achieved strong internal performance, with </a:t>
            </a:r>
            <a:r>
              <a:rPr lang="en-US" sz="2600" dirty="0" err="1">
                <a:latin typeface="+mj-lt"/>
              </a:rPr>
              <a:t>FedBN</a:t>
            </a:r>
            <a:r>
              <a:rPr lang="en-US" sz="2600" dirty="0">
                <a:latin typeface="+mj-lt"/>
              </a:rPr>
              <a:t> reaching 92.74% accuracy, but performance declined substantially on the external dataset because of severe domain shift.</a:t>
            </a:r>
          </a:p>
        </p:txBody>
      </p:sp>
      <p:sp>
        <p:nvSpPr>
          <p:cNvPr id="35" name="TextBox 34">
            <a:extLst>
              <a:ext uri="{FF2B5EF4-FFF2-40B4-BE49-F238E27FC236}">
                <a16:creationId xmlns:a16="http://schemas.microsoft.com/office/drawing/2014/main" id="{373C513C-C5CF-D6A5-895D-27F0F14E002F}"/>
              </a:ext>
            </a:extLst>
          </p:cNvPr>
          <p:cNvSpPr txBox="1"/>
          <p:nvPr/>
        </p:nvSpPr>
        <p:spPr>
          <a:xfrm>
            <a:off x="19107886" y="29386043"/>
            <a:ext cx="7757126" cy="11680121"/>
          </a:xfrm>
          <a:prstGeom prst="rect">
            <a:avLst/>
          </a:prstGeom>
          <a:noFill/>
        </p:spPr>
        <p:txBody>
          <a:bodyPr wrap="square">
            <a:spAutoFit/>
          </a:bodyPr>
          <a:lstStyle/>
          <a:p>
            <a:pPr algn="just"/>
            <a:r>
              <a:rPr lang="en-US" sz="2500" dirty="0">
                <a:latin typeface="+mj-lt"/>
              </a:rPr>
              <a:t>[1] </a:t>
            </a:r>
            <a:r>
              <a:rPr lang="en-US" sz="2500" dirty="0" err="1">
                <a:latin typeface="+mj-lt"/>
              </a:rPr>
              <a:t>Abdelwahab</a:t>
            </a:r>
            <a:r>
              <a:rPr lang="en-US" sz="2500" dirty="0">
                <a:latin typeface="+mj-lt"/>
              </a:rPr>
              <a:t>, M. M., Al-</a:t>
            </a:r>
            <a:r>
              <a:rPr lang="en-US" sz="2500" dirty="0" err="1">
                <a:latin typeface="+mj-lt"/>
              </a:rPr>
              <a:t>Karawi</a:t>
            </a:r>
            <a:r>
              <a:rPr lang="en-US" sz="2500" dirty="0">
                <a:latin typeface="+mj-lt"/>
              </a:rPr>
              <a:t>, K. A., &amp; </a:t>
            </a:r>
            <a:r>
              <a:rPr lang="en-US" sz="2500" dirty="0" err="1">
                <a:latin typeface="+mj-lt"/>
              </a:rPr>
              <a:t>Semary</a:t>
            </a:r>
            <a:r>
              <a:rPr lang="en-US" sz="2500" dirty="0">
                <a:latin typeface="+mj-lt"/>
              </a:rPr>
              <a:t>, H. E. (2023). Deep learning-based prediction of </a:t>
            </a:r>
            <a:r>
              <a:rPr lang="en-US" sz="2500" dirty="0" err="1">
                <a:latin typeface="+mj-lt"/>
              </a:rPr>
              <a:t>alzheimer’s</a:t>
            </a:r>
            <a:r>
              <a:rPr lang="en-US" sz="2500" dirty="0">
                <a:latin typeface="+mj-lt"/>
              </a:rPr>
              <a:t> disease using microarray gene expression data. Biomedicines, 11, 3304.</a:t>
            </a:r>
          </a:p>
          <a:p>
            <a:pPr algn="just"/>
            <a:endParaRPr lang="en-US" sz="2500" dirty="0">
              <a:latin typeface="+mj-lt"/>
            </a:endParaRPr>
          </a:p>
          <a:p>
            <a:pPr algn="just"/>
            <a:r>
              <a:rPr lang="en-US" sz="2500" dirty="0">
                <a:latin typeface="+mj-lt"/>
              </a:rPr>
              <a:t>[2] </a:t>
            </a:r>
            <a:r>
              <a:rPr lang="en-US" sz="2500" dirty="0" err="1">
                <a:latin typeface="+mj-lt"/>
              </a:rPr>
              <a:t>Abubakr</a:t>
            </a:r>
            <a:r>
              <a:rPr lang="en-US" sz="2500" dirty="0">
                <a:latin typeface="+mj-lt"/>
              </a:rPr>
              <a:t>, N., Kara, M., &amp; </a:t>
            </a:r>
            <a:r>
              <a:rPr lang="en-US" sz="2500" dirty="0" err="1">
                <a:latin typeface="+mj-lt"/>
              </a:rPr>
              <a:t>Balık</a:t>
            </a:r>
            <a:r>
              <a:rPr lang="en-US" sz="2500" dirty="0">
                <a:latin typeface="+mj-lt"/>
              </a:rPr>
              <a:t>, H. H. (2026). Explainable federated attention-based deep learning for </a:t>
            </a:r>
            <a:r>
              <a:rPr lang="en-US" sz="2500" dirty="0" err="1">
                <a:latin typeface="+mj-lt"/>
              </a:rPr>
              <a:t>alzheimer’s</a:t>
            </a:r>
            <a:r>
              <a:rPr lang="en-US" sz="2500" dirty="0">
                <a:latin typeface="+mj-lt"/>
              </a:rPr>
              <a:t> disease detection. Applied Sciences, 16, 4648.</a:t>
            </a:r>
          </a:p>
          <a:p>
            <a:pPr algn="just"/>
            <a:endParaRPr lang="en-US" sz="2500" dirty="0">
              <a:latin typeface="+mj-lt"/>
            </a:endParaRPr>
          </a:p>
          <a:p>
            <a:pPr algn="just"/>
            <a:r>
              <a:rPr lang="en-US" sz="2500" dirty="0">
                <a:latin typeface="+mj-lt"/>
              </a:rPr>
              <a:t>[3] Akindele, R. G., Adebayo, S., Yu, M., &amp; Kanda, P. S. (2026). </a:t>
            </a:r>
            <a:r>
              <a:rPr lang="en-US" sz="2500" dirty="0" err="1">
                <a:latin typeface="+mj-lt"/>
              </a:rPr>
              <a:t>Alzhinet</a:t>
            </a:r>
            <a:r>
              <a:rPr lang="en-US" sz="2500" dirty="0">
                <a:latin typeface="+mj-lt"/>
              </a:rPr>
              <a:t>: Traversing from 2d-cnn to 3d-cnn, towards early detection and diagnosis of </a:t>
            </a:r>
            <a:r>
              <a:rPr lang="en-US" sz="2500" dirty="0" err="1">
                <a:latin typeface="+mj-lt"/>
              </a:rPr>
              <a:t>alzheimer’s</a:t>
            </a:r>
            <a:r>
              <a:rPr lang="en-US" sz="2500" dirty="0">
                <a:latin typeface="+mj-lt"/>
              </a:rPr>
              <a:t> disease. Interdisciplinary Sciences: Computational Life Sciences, 18, 267–284.</a:t>
            </a:r>
          </a:p>
          <a:p>
            <a:pPr algn="just"/>
            <a:endParaRPr lang="en-US" sz="2500" dirty="0">
              <a:latin typeface="+mj-lt"/>
            </a:endParaRPr>
          </a:p>
          <a:p>
            <a:pPr algn="just"/>
            <a:r>
              <a:rPr lang="en-US" sz="2500" dirty="0">
                <a:latin typeface="+mj-lt"/>
              </a:rPr>
              <a:t>[4] Al </a:t>
            </a:r>
            <a:r>
              <a:rPr lang="en-US" sz="2500" dirty="0" err="1">
                <a:latin typeface="+mj-lt"/>
              </a:rPr>
              <a:t>Olaimat</a:t>
            </a:r>
            <a:r>
              <a:rPr lang="en-US" sz="2500" dirty="0">
                <a:latin typeface="+mj-lt"/>
              </a:rPr>
              <a:t>, M., Martinez, J., Saeed, F., </a:t>
            </a:r>
            <a:r>
              <a:rPr lang="en-US" sz="2500" dirty="0" err="1">
                <a:latin typeface="+mj-lt"/>
              </a:rPr>
              <a:t>Bozdag</a:t>
            </a:r>
            <a:r>
              <a:rPr lang="en-US" sz="2500" dirty="0">
                <a:latin typeface="+mj-lt"/>
              </a:rPr>
              <a:t>, S., &amp; Initiative, A. D. N. (2023). </a:t>
            </a:r>
            <a:r>
              <a:rPr lang="en-US" sz="2500" dirty="0" err="1">
                <a:latin typeface="+mj-lt"/>
              </a:rPr>
              <a:t>Ppad</a:t>
            </a:r>
            <a:r>
              <a:rPr lang="en-US" sz="2500" dirty="0">
                <a:latin typeface="+mj-lt"/>
              </a:rPr>
              <a:t>: a deep learning architecture to predict progression of </a:t>
            </a:r>
            <a:r>
              <a:rPr lang="en-US" sz="2500" dirty="0" err="1">
                <a:latin typeface="+mj-lt"/>
              </a:rPr>
              <a:t>alzheimer’s</a:t>
            </a:r>
            <a:r>
              <a:rPr lang="en-US" sz="2500" dirty="0">
                <a:latin typeface="+mj-lt"/>
              </a:rPr>
              <a:t> disease. Bioinformatics, 39, i149–i157.</a:t>
            </a:r>
          </a:p>
          <a:p>
            <a:pPr algn="just"/>
            <a:endParaRPr lang="en-US" sz="2500" dirty="0">
              <a:latin typeface="+mj-lt"/>
            </a:endParaRPr>
          </a:p>
          <a:p>
            <a:pPr algn="just"/>
            <a:r>
              <a:rPr lang="en-US" sz="2500" dirty="0">
                <a:latin typeface="+mj-lt"/>
              </a:rPr>
              <a:t>[5] </a:t>
            </a:r>
            <a:r>
              <a:rPr lang="en-US" sz="2500" dirty="0" err="1">
                <a:latin typeface="+mj-lt"/>
              </a:rPr>
              <a:t>Alsubaie</a:t>
            </a:r>
            <a:r>
              <a:rPr lang="en-US" sz="2500" dirty="0">
                <a:latin typeface="+mj-lt"/>
              </a:rPr>
              <a:t>, M. G., Luo, S., &amp; Shaukat, K. (2024). Alzheimer’s disease detection using deep learning on neuroimaging: a systematic review. Machine Learning and Knowledge Extraction, 6, 464–505.</a:t>
            </a:r>
          </a:p>
          <a:p>
            <a:pPr algn="just"/>
            <a:endParaRPr lang="en-US" sz="2500" dirty="0">
              <a:latin typeface="+mj-lt"/>
            </a:endParaRPr>
          </a:p>
          <a:p>
            <a:r>
              <a:rPr lang="en-US" sz="2800" dirty="0"/>
              <a:t>[</a:t>
            </a:r>
            <a:r>
              <a:rPr lang="en-US" sz="2500" dirty="0">
                <a:latin typeface="+mj-lt"/>
              </a:rPr>
              <a:t>6] </a:t>
            </a:r>
            <a:r>
              <a:rPr lang="en-US" sz="2500" dirty="0" err="1">
                <a:latin typeface="+mj-lt"/>
              </a:rPr>
              <a:t>Alsubaie</a:t>
            </a:r>
            <a:r>
              <a:rPr lang="en-US" sz="2500" dirty="0">
                <a:latin typeface="+mj-lt"/>
              </a:rPr>
              <a:t>, M. G., Luo, S., Shaukat, K., &amp; Zhang, W. (2026). A novel </a:t>
            </a:r>
            <a:r>
              <a:rPr lang="en-US" sz="2500" dirty="0" err="1">
                <a:latin typeface="+mj-lt"/>
              </a:rPr>
              <a:t>alzheimer’s</a:t>
            </a:r>
            <a:r>
              <a:rPr lang="en-US" sz="2500" dirty="0">
                <a:latin typeface="+mj-lt"/>
              </a:rPr>
              <a:t> disease classification framework integrating 3d </a:t>
            </a:r>
            <a:r>
              <a:rPr lang="en-US" sz="2500" dirty="0" err="1">
                <a:latin typeface="+mj-lt"/>
              </a:rPr>
              <a:t>cnn</a:t>
            </a:r>
            <a:r>
              <a:rPr lang="en-US" sz="2500" dirty="0">
                <a:latin typeface="+mj-lt"/>
              </a:rPr>
              <a:t> with bidirectional feature pyramid network and vision transformers. IEEE Access.</a:t>
            </a:r>
          </a:p>
        </p:txBody>
      </p:sp>
      <p:sp>
        <p:nvSpPr>
          <p:cNvPr id="44" name="Rectangle 3">
            <a:extLst>
              <a:ext uri="{FF2B5EF4-FFF2-40B4-BE49-F238E27FC236}">
                <a16:creationId xmlns:a16="http://schemas.microsoft.com/office/drawing/2014/main" id="{1C241C3F-A82D-340A-4ACE-365E326A5E2C}"/>
              </a:ext>
            </a:extLst>
          </p:cNvPr>
          <p:cNvSpPr>
            <a:spLocks noChangeArrowheads="1"/>
          </p:cNvSpPr>
          <p:nvPr/>
        </p:nvSpPr>
        <p:spPr bwMode="auto">
          <a:xfrm>
            <a:off x="886119" y="4254099"/>
            <a:ext cx="7993411" cy="1051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en-US" sz="4000" b="1" dirty="0">
                <a:solidFill>
                  <a:srgbClr val="005BBB"/>
                </a:solidFill>
                <a:latin typeface="+mj-lt"/>
                <a:cs typeface="Arial" panose="020B0604020202020204" pitchFamily="34" charset="0"/>
              </a:rPr>
              <a:t>Abstract</a:t>
            </a:r>
            <a:endParaRPr kumimoji="0" lang="en-US" altLang="en-US" sz="40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latin typeface="+mj-lt"/>
              </a:rPr>
              <a:t>The clinical adoption of deep learning for Alzheimer’s disease (AD) detection via structural MRI is currently limited by patient data privacy concerns and the opaque nature of neural networks. To overcome these barriers, we introduce a secure, dual-channel hybrid architecture combining a Convolutional Neural Network (</a:t>
            </a:r>
            <a:r>
              <a:rPr kumimoji="0" lang="en-US" altLang="en-US" sz="2500" b="0" i="0" u="none" strike="noStrike" cap="none" normalizeH="0" baseline="0" dirty="0" err="1">
                <a:ln>
                  <a:noFill/>
                </a:ln>
                <a:solidFill>
                  <a:schemeClr val="tx1"/>
                </a:solidFill>
                <a:effectLst/>
                <a:latin typeface="+mj-lt"/>
              </a:rPr>
              <a:t>ConvNeXt</a:t>
            </a:r>
            <a:r>
              <a:rPr kumimoji="0" lang="en-US" altLang="en-US" sz="2500" b="0" i="0" u="none" strike="noStrike" cap="none" normalizeH="0" baseline="0" dirty="0">
                <a:ln>
                  <a:noFill/>
                </a:ln>
                <a:solidFill>
                  <a:schemeClr val="tx1"/>
                </a:solidFill>
                <a:effectLst/>
                <a:latin typeface="+mj-lt"/>
              </a:rPr>
              <a:t>-Tiny) to detect localized grey-matter atrophy and a Vision Transformer (Swin-V2-T) to model global patterns of cortical thinning. We trained the framework across multiple sites using Federated Batch Normalization (</a:t>
            </a:r>
            <a:r>
              <a:rPr kumimoji="0" lang="en-US" altLang="en-US" sz="2500" b="0" i="0" u="none" strike="noStrike" cap="none" normalizeH="0" baseline="0" dirty="0" err="1">
                <a:ln>
                  <a:noFill/>
                </a:ln>
                <a:solidFill>
                  <a:schemeClr val="tx1"/>
                </a:solidFill>
                <a:effectLst/>
                <a:latin typeface="+mj-lt"/>
              </a:rPr>
              <a:t>FedBN</a:t>
            </a:r>
            <a:r>
              <a:rPr kumimoji="0" lang="en-US" altLang="en-US" sz="2500" b="0" i="0" u="none" strike="noStrike" cap="none" normalizeH="0" baseline="0" dirty="0">
                <a:ln>
                  <a:noFill/>
                </a:ln>
                <a:solidFill>
                  <a:schemeClr val="tx1"/>
                </a:solidFill>
                <a:effectLst/>
                <a:latin typeface="+mj-lt"/>
              </a:rPr>
              <a:t>) to handle non-IID clinical data distributions without exchanging raw patient scans. Our </a:t>
            </a:r>
            <a:r>
              <a:rPr kumimoji="0" lang="en-US" altLang="en-US" sz="2500" b="0" i="0" u="none" strike="noStrike" cap="none" normalizeH="0" baseline="0" dirty="0" err="1">
                <a:ln>
                  <a:noFill/>
                </a:ln>
                <a:solidFill>
                  <a:schemeClr val="tx1"/>
                </a:solidFill>
                <a:effectLst/>
                <a:latin typeface="+mj-lt"/>
              </a:rPr>
              <a:t>FedBN</a:t>
            </a:r>
            <a:r>
              <a:rPr kumimoji="0" lang="en-US" altLang="en-US" sz="2500" b="0" i="0" u="none" strike="noStrike" cap="none" normalizeH="0" baseline="0" dirty="0">
                <a:ln>
                  <a:noFill/>
                </a:ln>
                <a:solidFill>
                  <a:schemeClr val="tx1"/>
                </a:solidFill>
                <a:effectLst/>
                <a:latin typeface="+mj-lt"/>
              </a:rPr>
              <a:t> approach vastly outperformed centralized training on internal testing, elevating diagnostic accuracy from 68.56% to a peak of 92.74% (AUC: 0.991). However, significant performance degradation during external evaluation (22.11% accuracy) highlighted the profound impact of multi-site domain shift, underscoring the necessity of advanced data harmonization methods like </a:t>
            </a:r>
            <a:r>
              <a:rPr kumimoji="0" lang="en-US" altLang="en-US" sz="2500" b="0" i="0" u="none" strike="noStrike" cap="none" normalizeH="0" baseline="0" dirty="0" err="1">
                <a:ln>
                  <a:noFill/>
                </a:ln>
                <a:solidFill>
                  <a:schemeClr val="tx1"/>
                </a:solidFill>
                <a:effectLst/>
                <a:latin typeface="+mj-lt"/>
              </a:rPr>
              <a:t>ComBat</a:t>
            </a:r>
            <a:r>
              <a:rPr kumimoji="0" lang="en-US" altLang="en-US" sz="2500" b="0" i="0" u="none" strike="noStrike" cap="none" normalizeH="0" baseline="0" dirty="0">
                <a:ln>
                  <a:noFill/>
                </a:ln>
                <a:solidFill>
                  <a:schemeClr val="tx1"/>
                </a:solidFill>
                <a:effectLst/>
                <a:latin typeface="+mj-lt"/>
              </a:rPr>
              <a:t> for real-world generalization. Validated by a rigorous suite of Explainable AI (XAI) tools that ground predictions in established anatomical biomarkers, this framework establishes a highly accurate, privacy-preserving, and transparent pathway toward the trustworthy clinical deployment of automated AD screening.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5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1" u="none" strike="noStrike" cap="none" normalizeH="0" baseline="0" dirty="0">
                <a:ln>
                  <a:noFill/>
                </a:ln>
                <a:solidFill>
                  <a:schemeClr val="tx1"/>
                </a:solidFill>
                <a:effectLst/>
                <a:latin typeface="+mj-lt"/>
              </a:rPr>
              <a:t>Index:</a:t>
            </a:r>
            <a:r>
              <a:rPr kumimoji="0" lang="en-US" altLang="en-US" sz="2000" b="0" i="1" u="none" strike="noStrike" cap="none" normalizeH="0" baseline="0" dirty="0">
                <a:ln>
                  <a:noFill/>
                </a:ln>
                <a:solidFill>
                  <a:schemeClr val="tx1"/>
                </a:solidFill>
                <a:effectLst/>
                <a:latin typeface="+mj-lt"/>
              </a:rPr>
              <a:t> Alzheimer's Disease, Federated Learning, Explainable AI, Hybrid Architecture, Domain Shift.</a:t>
            </a:r>
          </a:p>
        </p:txBody>
      </p:sp>
      <p:sp>
        <p:nvSpPr>
          <p:cNvPr id="45" name="TextBox 44">
            <a:extLst>
              <a:ext uri="{FF2B5EF4-FFF2-40B4-BE49-F238E27FC236}">
                <a16:creationId xmlns:a16="http://schemas.microsoft.com/office/drawing/2014/main" id="{5F6436C8-8DC6-2BBA-48A1-6E5DD288BD8F}"/>
              </a:ext>
            </a:extLst>
          </p:cNvPr>
          <p:cNvSpPr txBox="1"/>
          <p:nvPr/>
        </p:nvSpPr>
        <p:spPr>
          <a:xfrm>
            <a:off x="19263664" y="11840451"/>
            <a:ext cx="7815918" cy="3693319"/>
          </a:xfrm>
          <a:prstGeom prst="rect">
            <a:avLst/>
          </a:prstGeom>
          <a:noFill/>
        </p:spPr>
        <p:txBody>
          <a:bodyPr wrap="square">
            <a:spAutoFit/>
          </a:bodyPr>
          <a:lstStyle/>
          <a:p>
            <a:pPr algn="just"/>
            <a:r>
              <a:rPr lang="en-US" sz="2600" b="1" dirty="0">
                <a:latin typeface="+mj-lt"/>
              </a:rPr>
              <a:t>Analysis: </a:t>
            </a:r>
            <a:r>
              <a:rPr lang="en-US" sz="2600" dirty="0">
                <a:latin typeface="+mj-lt"/>
              </a:rPr>
              <a:t>The evaluation highlights the significant superiority of the proposed federated approach over traditional centralized training. Specifically, our </a:t>
            </a:r>
            <a:r>
              <a:rPr lang="en-US" sz="2600" dirty="0" err="1">
                <a:latin typeface="+mj-lt"/>
              </a:rPr>
              <a:t>FedBN</a:t>
            </a:r>
            <a:r>
              <a:rPr lang="en-US" sz="2600" dirty="0">
                <a:latin typeface="+mj-lt"/>
              </a:rPr>
              <a:t> framework achieved peak performance with 92.74% accuracy and a 0.9912 AUC, vastly outperforming the centralized baseline's 68.56% accuracy. This demonstrates that retaining local normalization statistics successfully mitigates the challenges of non-IID clinical data while strictly preserving patient privacy. </a:t>
            </a:r>
          </a:p>
        </p:txBody>
      </p:sp>
      <p:sp>
        <p:nvSpPr>
          <p:cNvPr id="47" name="TextBox 46">
            <a:extLst>
              <a:ext uri="{FF2B5EF4-FFF2-40B4-BE49-F238E27FC236}">
                <a16:creationId xmlns:a16="http://schemas.microsoft.com/office/drawing/2014/main" id="{6B813049-5F67-B884-2D38-3F2A095A8E1E}"/>
              </a:ext>
            </a:extLst>
          </p:cNvPr>
          <p:cNvSpPr txBox="1"/>
          <p:nvPr/>
        </p:nvSpPr>
        <p:spPr>
          <a:xfrm>
            <a:off x="995842" y="14979324"/>
            <a:ext cx="7898974" cy="8017579"/>
          </a:xfrm>
          <a:prstGeom prst="rect">
            <a:avLst/>
          </a:prstGeom>
          <a:noFill/>
        </p:spPr>
        <p:txBody>
          <a:bodyPr wrap="square">
            <a:spAutoFit/>
          </a:bodyPr>
          <a:lstStyle/>
          <a:p>
            <a:pPr algn="just">
              <a:lnSpc>
                <a:spcPts val="3833"/>
              </a:lnSpc>
              <a:spcAft>
                <a:spcPts val="1000"/>
              </a:spcAft>
            </a:pPr>
            <a:r>
              <a:rPr lang="en-US" sz="4000" b="1" dirty="0">
                <a:solidFill>
                  <a:srgbClr val="005BBB"/>
                </a:solidFill>
                <a:latin typeface="+mj-lt"/>
                <a:cs typeface="Arial" panose="020B0604020202020204" pitchFamily="34" charset="0"/>
              </a:rPr>
              <a:t>Introduction</a:t>
            </a:r>
          </a:p>
          <a:p>
            <a:pPr algn="just"/>
            <a:r>
              <a:rPr lang="en-US" sz="2500" dirty="0">
                <a:latin typeface="+mj-lt"/>
                <a:cs typeface="Arial" panose="020B0604020202020204" pitchFamily="34" charset="0"/>
              </a:rPr>
              <a:t>Alzheimer’s disease (AD) is a rapidly growing global health crisis. While deep learning on structural MRI enables highly accurate early detection, clinical adoption is currently blocked by two major hurdles: </a:t>
            </a:r>
            <a:r>
              <a:rPr lang="en-US" sz="2500" b="1" dirty="0">
                <a:latin typeface="+mj-lt"/>
                <a:cs typeface="Arial" panose="020B0604020202020204" pitchFamily="34" charset="0"/>
              </a:rPr>
              <a:t>patient data privacy risks</a:t>
            </a:r>
            <a:r>
              <a:rPr lang="en-US" sz="2500" dirty="0">
                <a:latin typeface="+mj-lt"/>
                <a:cs typeface="Arial" panose="020B0604020202020204" pitchFamily="34" charset="0"/>
              </a:rPr>
              <a:t> and </a:t>
            </a:r>
            <a:r>
              <a:rPr lang="en-US" sz="2500" b="1" dirty="0">
                <a:latin typeface="+mj-lt"/>
                <a:cs typeface="Arial" panose="020B0604020202020204" pitchFamily="34" charset="0"/>
              </a:rPr>
              <a:t>untrustworthy “black-box” models</a:t>
            </a:r>
            <a:r>
              <a:rPr lang="en-US" sz="2500" dirty="0">
                <a:latin typeface="+mj-lt"/>
                <a:cs typeface="Arial" panose="020B0604020202020204" pitchFamily="34" charset="0"/>
              </a:rPr>
              <a:t>.</a:t>
            </a:r>
          </a:p>
          <a:p>
            <a:pPr algn="just"/>
            <a:r>
              <a:rPr lang="en-US" sz="2500" dirty="0">
                <a:latin typeface="+mj-lt"/>
                <a:cs typeface="Arial" panose="020B0604020202020204" pitchFamily="34" charset="0"/>
              </a:rPr>
              <a:t>To address these challenges, we introduce a novel </a:t>
            </a:r>
            <a:r>
              <a:rPr lang="en-US" sz="2500" b="1" dirty="0">
                <a:latin typeface="+mj-lt"/>
                <a:cs typeface="Arial" panose="020B0604020202020204" pitchFamily="34" charset="0"/>
              </a:rPr>
              <a:t>hybrid CNN-Transformer framework</a:t>
            </a:r>
            <a:r>
              <a:rPr lang="en-US" sz="2500" dirty="0">
                <a:latin typeface="+mj-lt"/>
                <a:cs typeface="Arial" panose="020B0604020202020204" pitchFamily="34" charset="0"/>
              </a:rPr>
              <a:t> designed for secure, transparent, and accurate AD screening. Our approach features:</a:t>
            </a:r>
          </a:p>
          <a:p>
            <a:pPr algn="just">
              <a:buFont typeface="Arial" panose="020B0604020202020204" pitchFamily="34" charset="0"/>
              <a:buChar char="•"/>
            </a:pPr>
            <a:r>
              <a:rPr lang="en-US" sz="2500" b="1" dirty="0">
                <a:latin typeface="+mj-lt"/>
                <a:cs typeface="Arial" panose="020B0604020202020204" pitchFamily="34" charset="0"/>
              </a:rPr>
              <a:t>Dual-Channel Architecture:</a:t>
            </a:r>
            <a:r>
              <a:rPr lang="en-US" sz="2500" dirty="0">
                <a:latin typeface="+mj-lt"/>
                <a:cs typeface="Arial" panose="020B0604020202020204" pitchFamily="34" charset="0"/>
              </a:rPr>
              <a:t> Combines CNNs and Transformers to capture both local tissue degradation and global brain patterns.</a:t>
            </a:r>
          </a:p>
          <a:p>
            <a:pPr algn="just">
              <a:buFont typeface="Arial" panose="020B0604020202020204" pitchFamily="34" charset="0"/>
              <a:buChar char="•"/>
            </a:pPr>
            <a:r>
              <a:rPr lang="en-US" sz="2500" b="1" dirty="0">
                <a:latin typeface="+mj-lt"/>
                <a:cs typeface="Arial" panose="020B0604020202020204" pitchFamily="34" charset="0"/>
              </a:rPr>
              <a:t>Federated Learning:</a:t>
            </a:r>
            <a:r>
              <a:rPr lang="en-US" sz="2500" dirty="0">
                <a:latin typeface="+mj-lt"/>
                <a:cs typeface="Arial" panose="020B0604020202020204" pitchFamily="34" charset="0"/>
              </a:rPr>
              <a:t> Trains collaboratively across multiple hospitals without ever sharing sensitive raw patient data.</a:t>
            </a:r>
          </a:p>
          <a:p>
            <a:pPr algn="just">
              <a:buFont typeface="Arial" panose="020B0604020202020204" pitchFamily="34" charset="0"/>
              <a:buChar char="•"/>
            </a:pPr>
            <a:r>
              <a:rPr lang="en-US" sz="2500" b="1" dirty="0">
                <a:latin typeface="+mj-lt"/>
                <a:cs typeface="Arial" panose="020B0604020202020204" pitchFamily="34" charset="0"/>
              </a:rPr>
              <a:t>Explainable AI (XAI):</a:t>
            </a:r>
            <a:r>
              <a:rPr lang="en-US" sz="2500" dirty="0">
                <a:latin typeface="+mj-lt"/>
                <a:cs typeface="Arial" panose="020B0604020202020204" pitchFamily="34" charset="0"/>
              </a:rPr>
              <a:t> Generates anatomically precise, visually grounded maps of key AD biomarkers (like hippocampal shrinkage), delivering a highly accurate diagnostic tool that clinicians can actually</a:t>
            </a:r>
          </a:p>
          <a:p>
            <a:pPr algn="just"/>
            <a:r>
              <a:rPr lang="en-US" sz="2500" dirty="0">
                <a:latin typeface="+mj-lt"/>
                <a:cs typeface="Arial" panose="020B0604020202020204" pitchFamily="34" charset="0"/>
              </a:rPr>
              <a:t> trust.</a:t>
            </a:r>
          </a:p>
        </p:txBody>
      </p:sp>
      <p:sp>
        <p:nvSpPr>
          <p:cNvPr id="52" name="TextBox 51">
            <a:extLst>
              <a:ext uri="{FF2B5EF4-FFF2-40B4-BE49-F238E27FC236}">
                <a16:creationId xmlns:a16="http://schemas.microsoft.com/office/drawing/2014/main" id="{F317FCD7-8ADF-B2B1-79AB-7A1951C29B86}"/>
              </a:ext>
            </a:extLst>
          </p:cNvPr>
          <p:cNvSpPr txBox="1"/>
          <p:nvPr/>
        </p:nvSpPr>
        <p:spPr>
          <a:xfrm>
            <a:off x="19158796" y="8174080"/>
            <a:ext cx="8153400" cy="1015663"/>
          </a:xfrm>
          <a:prstGeom prst="rect">
            <a:avLst/>
          </a:prstGeom>
          <a:noFill/>
        </p:spPr>
        <p:txBody>
          <a:bodyPr wrap="square">
            <a:spAutoFit/>
          </a:bodyPr>
          <a:lstStyle/>
          <a:p>
            <a:r>
              <a:rPr lang="en-US" sz="2000" b="1">
                <a:latin typeface="+mj-lt"/>
              </a:rPr>
              <a:t>Fig </a:t>
            </a:r>
            <a:r>
              <a:rPr lang="en-US" sz="2000" b="1" dirty="0">
                <a:latin typeface="+mj-lt"/>
              </a:rPr>
              <a:t>7</a:t>
            </a:r>
            <a:r>
              <a:rPr lang="en-US" sz="2000" b="1">
                <a:latin typeface="+mj-lt"/>
              </a:rPr>
              <a:t>: </a:t>
            </a:r>
            <a:r>
              <a:rPr lang="en-US" sz="2000" dirty="0">
                <a:latin typeface="+mj-lt"/>
              </a:rPr>
              <a:t>Performance Comparison of Centralized and Federated Learning Models on </a:t>
            </a:r>
          </a:p>
          <a:p>
            <a:r>
              <a:rPr lang="en-US" sz="2000" dirty="0">
                <a:latin typeface="+mj-lt"/>
              </a:rPr>
              <a:t>Internal and External Test Sets</a:t>
            </a:r>
          </a:p>
        </p:txBody>
      </p:sp>
      <p:sp>
        <p:nvSpPr>
          <p:cNvPr id="54" name="Rectangle 53">
            <a:extLst>
              <a:ext uri="{FF2B5EF4-FFF2-40B4-BE49-F238E27FC236}">
                <a16:creationId xmlns:a16="http://schemas.microsoft.com/office/drawing/2014/main" id="{7ED62BA3-5A14-C3C3-C244-7166C52130F2}"/>
              </a:ext>
            </a:extLst>
          </p:cNvPr>
          <p:cNvSpPr/>
          <p:nvPr/>
        </p:nvSpPr>
        <p:spPr>
          <a:xfrm>
            <a:off x="0" y="3810619"/>
            <a:ext cx="27432001" cy="316814"/>
          </a:xfrm>
          <a:prstGeom prst="rect">
            <a:avLst/>
          </a:prstGeom>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6" name="Picture 55">
            <a:extLst>
              <a:ext uri="{FF2B5EF4-FFF2-40B4-BE49-F238E27FC236}">
                <a16:creationId xmlns:a16="http://schemas.microsoft.com/office/drawing/2014/main" id="{7131BFA4-D9BF-7B82-9916-716758134B4E}"/>
              </a:ext>
            </a:extLst>
          </p:cNvPr>
          <p:cNvPicPr>
            <a:picLocks noChangeAspect="1"/>
          </p:cNvPicPr>
          <p:nvPr/>
        </p:nvPicPr>
        <p:blipFill>
          <a:blip r:embed="rId9"/>
          <a:stretch>
            <a:fillRect/>
          </a:stretch>
        </p:blipFill>
        <p:spPr>
          <a:xfrm>
            <a:off x="1463849" y="23833891"/>
            <a:ext cx="6903910" cy="9753600"/>
          </a:xfrm>
          <a:prstGeom prst="rect">
            <a:avLst/>
          </a:prstGeom>
        </p:spPr>
      </p:pic>
      <p:pic>
        <p:nvPicPr>
          <p:cNvPr id="57" name="Image 4" descr="preencoded.png">
            <a:extLst>
              <a:ext uri="{FF2B5EF4-FFF2-40B4-BE49-F238E27FC236}">
                <a16:creationId xmlns:a16="http://schemas.microsoft.com/office/drawing/2014/main" id="{C8972916-371A-727B-855D-B531A467A784}"/>
              </a:ext>
            </a:extLst>
          </p:cNvPr>
          <p:cNvPicPr>
            <a:picLocks noChangeAspect="1"/>
          </p:cNvPicPr>
          <p:nvPr/>
        </p:nvPicPr>
        <p:blipFill rotWithShape="1">
          <a:blip r:embed="rId10"/>
          <a:srcRect l="9939" r="10935"/>
          <a:stretch/>
        </p:blipFill>
        <p:spPr>
          <a:xfrm>
            <a:off x="1272818" y="34875046"/>
            <a:ext cx="7345888" cy="5258343"/>
          </a:xfrm>
          <a:prstGeom prst="rect">
            <a:avLst/>
          </a:prstGeom>
        </p:spPr>
      </p:pic>
      <p:sp>
        <p:nvSpPr>
          <p:cNvPr id="60" name="TextBox 59">
            <a:extLst>
              <a:ext uri="{FF2B5EF4-FFF2-40B4-BE49-F238E27FC236}">
                <a16:creationId xmlns:a16="http://schemas.microsoft.com/office/drawing/2014/main" id="{D68792FD-EBD3-A2A0-81BE-86DF478BF198}"/>
              </a:ext>
            </a:extLst>
          </p:cNvPr>
          <p:cNvSpPr txBox="1"/>
          <p:nvPr/>
        </p:nvSpPr>
        <p:spPr>
          <a:xfrm>
            <a:off x="9760639" y="4361010"/>
            <a:ext cx="6991866" cy="707886"/>
          </a:xfrm>
          <a:prstGeom prst="rect">
            <a:avLst/>
          </a:prstGeom>
          <a:noFill/>
        </p:spPr>
        <p:txBody>
          <a:bodyPr wrap="square">
            <a:spAutoFit/>
          </a:bodyPr>
          <a:lstStyle/>
          <a:p>
            <a:pPr algn="just" defTabSz="914400" eaLnBrk="0" fontAlgn="base" hangingPunct="0">
              <a:spcBef>
                <a:spcPct val="0"/>
              </a:spcBef>
              <a:spcAft>
                <a:spcPct val="0"/>
              </a:spcAft>
            </a:pPr>
            <a:r>
              <a:rPr kumimoji="0" lang="en-US" altLang="en-US" sz="4000" b="1" i="0" u="none" strike="noStrike" cap="none" normalizeH="0" baseline="0" dirty="0">
                <a:ln>
                  <a:noFill/>
                </a:ln>
                <a:solidFill>
                  <a:srgbClr val="005BBB"/>
                </a:solidFill>
                <a:effectLst/>
                <a:latin typeface="+mj-lt"/>
                <a:cs typeface="Arial" panose="020B0604020202020204" pitchFamily="34" charset="0"/>
              </a:rPr>
              <a:t>Result Analysis</a:t>
            </a:r>
            <a:endParaRPr kumimoji="0" lang="en-US" altLang="en-US" sz="4000" b="0" i="0" u="none" strike="noStrike" cap="none" normalizeH="0" baseline="0" dirty="0">
              <a:ln>
                <a:noFill/>
              </a:ln>
              <a:solidFill>
                <a:schemeClr val="tx1"/>
              </a:solidFill>
              <a:effectLst/>
              <a:latin typeface="+mj-lt"/>
            </a:endParaRPr>
          </a:p>
        </p:txBody>
      </p:sp>
      <p:pic>
        <p:nvPicPr>
          <p:cNvPr id="62" name="Picture 61" descr="A graph of a number of different colored lines&#10;&#10;Description automatically generated">
            <a:extLst>
              <a:ext uri="{FF2B5EF4-FFF2-40B4-BE49-F238E27FC236}">
                <a16:creationId xmlns:a16="http://schemas.microsoft.com/office/drawing/2014/main" id="{B6153DA1-4066-534C-1AC9-3FDFDD401BE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399621" y="36272680"/>
            <a:ext cx="6964199" cy="3860710"/>
          </a:xfrm>
          <a:prstGeom prst="rect">
            <a:avLst/>
          </a:prstGeom>
        </p:spPr>
      </p:pic>
      <p:sp>
        <p:nvSpPr>
          <p:cNvPr id="1025" name="TextBox 1024">
            <a:extLst>
              <a:ext uri="{FF2B5EF4-FFF2-40B4-BE49-F238E27FC236}">
                <a16:creationId xmlns:a16="http://schemas.microsoft.com/office/drawing/2014/main" id="{2622CD23-DD7E-39BD-A9A7-E86A3033F8BA}"/>
              </a:ext>
            </a:extLst>
          </p:cNvPr>
          <p:cNvSpPr txBox="1"/>
          <p:nvPr/>
        </p:nvSpPr>
        <p:spPr>
          <a:xfrm>
            <a:off x="12990728" y="40138844"/>
            <a:ext cx="2896972" cy="369332"/>
          </a:xfrm>
          <a:prstGeom prst="rect">
            <a:avLst/>
          </a:prstGeom>
          <a:noFill/>
        </p:spPr>
        <p:txBody>
          <a:bodyPr wrap="square">
            <a:spAutoFit/>
          </a:bodyPr>
          <a:lstStyle/>
          <a:p>
            <a:r>
              <a:rPr lang="en-US" sz="1800" b="1" dirty="0">
                <a:latin typeface="+mj-lt"/>
              </a:rPr>
              <a:t>Fig 6: </a:t>
            </a:r>
            <a:r>
              <a:rPr lang="en-US" dirty="0" err="1">
                <a:latin typeface="+mj-lt"/>
              </a:rPr>
              <a:t>FedAvg</a:t>
            </a:r>
            <a:r>
              <a:rPr lang="en-US" dirty="0">
                <a:latin typeface="+mj-lt"/>
              </a:rPr>
              <a:t> Internal Text</a:t>
            </a:r>
            <a:endParaRPr lang="en-US" sz="1800" dirty="0">
              <a:latin typeface="+mj-lt"/>
            </a:endParaRPr>
          </a:p>
        </p:txBody>
      </p:sp>
    </p:spTree>
    <p:extLst>
      <p:ext uri="{BB962C8B-B14F-4D97-AF65-F5344CB8AC3E}">
        <p14:creationId xmlns:p14="http://schemas.microsoft.com/office/powerpoint/2010/main" val="217828872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1d0a431-73d2-4aed-a3b9-997dc2ad4fd8">
      <Terms xmlns="http://schemas.microsoft.com/office/infopath/2007/PartnerControls"/>
    </lcf76f155ced4ddcb4097134ff3c332f>
    <TaxCatchAll xmlns="37e66944-e397-4f75-8f63-20bc0a6f2fd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B2BCDF1B2A22B4A8146FD01CC9FC177" ma:contentTypeVersion="9" ma:contentTypeDescription="Create a new document." ma:contentTypeScope="" ma:versionID="7e626a1ec5e2789392c2ca7a1fc5800f">
  <xsd:schema xmlns:xsd="http://www.w3.org/2001/XMLSchema" xmlns:xs="http://www.w3.org/2001/XMLSchema" xmlns:p="http://schemas.microsoft.com/office/2006/metadata/properties" xmlns:ns2="f1d0a431-73d2-4aed-a3b9-997dc2ad4fd8" xmlns:ns3="37e66944-e397-4f75-8f63-20bc0a6f2fd7" targetNamespace="http://schemas.microsoft.com/office/2006/metadata/properties" ma:root="true" ma:fieldsID="04b6c4021a3f59a1d6f359ef24a7e14d" ns2:_="" ns3:_="">
    <xsd:import namespace="f1d0a431-73d2-4aed-a3b9-997dc2ad4fd8"/>
    <xsd:import namespace="37e66944-e397-4f75-8f63-20bc0a6f2f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d0a431-73d2-4aed-a3b9-997dc2ad4f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c387e96-56ce-4293-9bf0-c5d3fd96f7ac"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e66944-e397-4f75-8f63-20bc0a6f2fd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a879518-b3a0-4e8a-8ac4-bf3150111dfb}" ma:internalName="TaxCatchAll" ma:showField="CatchAllData" ma:web="37e66944-e397-4f75-8f63-20bc0a6f2fd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1CA4C71-5870-45C1-AE1A-50CA2EFEAA57}">
  <ds:schemaRefs>
    <ds:schemaRef ds:uri="http://schemas.microsoft.com/office/2006/metadata/properties"/>
    <ds:schemaRef ds:uri="http://schemas.microsoft.com/office/infopath/2007/PartnerControls"/>
    <ds:schemaRef ds:uri="f1d0a431-73d2-4aed-a3b9-997dc2ad4fd8"/>
    <ds:schemaRef ds:uri="37e66944-e397-4f75-8f63-20bc0a6f2fd7"/>
  </ds:schemaRefs>
</ds:datastoreItem>
</file>

<file path=customXml/itemProps2.xml><?xml version="1.0" encoding="utf-8"?>
<ds:datastoreItem xmlns:ds="http://schemas.openxmlformats.org/officeDocument/2006/customXml" ds:itemID="{9B7682C1-42A0-47A0-AC64-6D73942072E9}">
  <ds:schemaRefs>
    <ds:schemaRef ds:uri="http://schemas.microsoft.com/sharepoint/v3/contenttype/forms"/>
  </ds:schemaRefs>
</ds:datastoreItem>
</file>

<file path=customXml/itemProps3.xml><?xml version="1.0" encoding="utf-8"?>
<ds:datastoreItem xmlns:ds="http://schemas.openxmlformats.org/officeDocument/2006/customXml" ds:itemID="{642E0127-651C-4063-90F8-A7C37AE893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d0a431-73d2-4aed-a3b9-997dc2ad4fd8"/>
    <ds:schemaRef ds:uri="37e66944-e397-4f75-8f63-20bc0a6f2f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514</TotalTime>
  <Words>1228</Words>
  <Application>Microsoft Office PowerPoint</Application>
  <PresentationFormat>Custom</PresentationFormat>
  <Paragraphs>59</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Mazid Ul Haque</dc:creator>
  <cp:lastModifiedBy>HAMIDUL ISLAM HASIB</cp:lastModifiedBy>
  <cp:revision>35</cp:revision>
  <dcterms:created xsi:type="dcterms:W3CDTF">2025-04-23T14:04:01Z</dcterms:created>
  <dcterms:modified xsi:type="dcterms:W3CDTF">2026-09-16T18:51:41Z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0x0101001B2BCDF1B2A22B4A8146FD01CC9FC177</vt:lpwstr>
  </property>
</Properties>
</file>